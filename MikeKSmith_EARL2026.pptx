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66" r:id="rId5"/>
    <p:sldMasterId id="2147483671" r:id="rId6"/>
    <p:sldMasterId id="2147483677" r:id="rId7"/>
  </p:sldMasterIdLst>
  <p:notesMasterIdLst>
    <p:notesMasterId r:id="rId46"/>
  </p:notesMasterIdLst>
  <p:sldIdLst>
    <p:sldId id="256" r:id="rId8"/>
    <p:sldId id="274" r:id="rId9"/>
    <p:sldId id="258" r:id="rId10"/>
    <p:sldId id="261" r:id="rId11"/>
    <p:sldId id="260" r:id="rId12"/>
    <p:sldId id="275" r:id="rId13"/>
    <p:sldId id="269" r:id="rId14"/>
    <p:sldId id="270" r:id="rId15"/>
    <p:sldId id="272" r:id="rId16"/>
    <p:sldId id="271" r:id="rId17"/>
    <p:sldId id="273" r:id="rId18"/>
    <p:sldId id="297" r:id="rId19"/>
    <p:sldId id="281" r:id="rId20"/>
    <p:sldId id="294" r:id="rId21"/>
    <p:sldId id="276" r:id="rId22"/>
    <p:sldId id="277" r:id="rId23"/>
    <p:sldId id="279" r:id="rId24"/>
    <p:sldId id="299" r:id="rId25"/>
    <p:sldId id="291" r:id="rId26"/>
    <p:sldId id="280" r:id="rId27"/>
    <p:sldId id="292" r:id="rId28"/>
    <p:sldId id="262" r:id="rId29"/>
    <p:sldId id="286" r:id="rId30"/>
    <p:sldId id="263" r:id="rId31"/>
    <p:sldId id="266" r:id="rId32"/>
    <p:sldId id="264" r:id="rId33"/>
    <p:sldId id="265" r:id="rId34"/>
    <p:sldId id="267" r:id="rId35"/>
    <p:sldId id="283" r:id="rId36"/>
    <p:sldId id="284" r:id="rId37"/>
    <p:sldId id="287" r:id="rId38"/>
    <p:sldId id="288" r:id="rId39"/>
    <p:sldId id="268" r:id="rId40"/>
    <p:sldId id="285" r:id="rId41"/>
    <p:sldId id="296" r:id="rId42"/>
    <p:sldId id="298" r:id="rId43"/>
    <p:sldId id="289" r:id="rId44"/>
    <p:sldId id="290" r:id="rId45"/>
  </p:sldIdLst>
  <p:sldSz cx="12192000" cy="6858000"/>
  <p:notesSz cx="6858000" cy="9144000"/>
  <p:defaultTextStyle>
    <a:defPPr>
      <a:defRPr lang="en-US"/>
    </a:defPPr>
    <a:lvl1pPr marL="0" algn="l" defTabSz="22852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228520" algn="l" defTabSz="22852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457041" algn="l" defTabSz="22852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685560" algn="l" defTabSz="22852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914080" algn="l" defTabSz="22852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142599" algn="l" defTabSz="22852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1371120" algn="l" defTabSz="22852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1599640" algn="l" defTabSz="22852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1828160" algn="l" defTabSz="22852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8744468-F9D7-D7BE-1D9E-94CB03D813E8}" name="Cadorett, Valerie" initials="VC" userId="S::CADORV@pfizer.com::153f4264-8d66-4d51-8c27-a463d3406295" providerId="AD"/>
  <p188:author id="{61D61C7B-2C4E-8D1F-21BF-82ED3AAC7015}" name="Tella, Aditya" initials="AT" userId="S::TELLAA02@pfizer.com::c81d2064-d628-404e-8e99-1138ce4b1cc1" providerId="AD"/>
  <p188:author id="{2BD3A792-86BC-31CE-96C9-8D3C6CBBDCFE}" name="Smith, Matt" initials="MS" userId="S::SMITHMH@pfizer.com::db09e3cb-9035-4d26-92d5-42fc3134a12c" providerId="AD"/>
  <p188:author id="{4F4939FA-3C06-1044-6143-E03838954667}" name="Smith, Mike" initials="MS" userId="S::smith_mk@pfizer.com::fd68b96f-d6bb-4c79-994a-7859c22e374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8E5295-F2A7-4012-A344-B5CEC3664071}" v="2" dt="2026-10-09T08:17:52.1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38" y="5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438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slide" Target="slides/slide35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3" Type="http://schemas.microsoft.com/office/2018/10/relationships/authors" Target="authors.xml"/><Relationship Id="rId5" Type="http://schemas.openxmlformats.org/officeDocument/2006/relationships/slideMaster" Target="slideMasters/slideMaster2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viewProps" Target="viewProps.xml"/><Relationship Id="rId8" Type="http://schemas.openxmlformats.org/officeDocument/2006/relationships/slide" Target="slides/slide1.xml"/><Relationship Id="rId51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mith, Mike" userId="fd68b96f-d6bb-4c79-994a-7859c22e374b" providerId="ADAL" clId="{D5748F9F-6D5E-4907-B55B-D9A937CCCF86}"/>
    <pc:docChg chg="custSel addSld modSld sldOrd">
      <pc:chgData name="Smith, Mike" userId="fd68b96f-d6bb-4c79-994a-7859c22e374b" providerId="ADAL" clId="{D5748F9F-6D5E-4907-B55B-D9A937CCCF86}" dt="2026-10-05T08:05:48.445" v="275" actId="1076"/>
      <pc:docMkLst>
        <pc:docMk/>
      </pc:docMkLst>
      <pc:sldChg chg="modSp mod">
        <pc:chgData name="Smith, Mike" userId="fd68b96f-d6bb-4c79-994a-7859c22e374b" providerId="ADAL" clId="{D5748F9F-6D5E-4907-B55B-D9A937CCCF86}" dt="2026-09-25T12:02:15.373" v="270" actId="113"/>
        <pc:sldMkLst>
          <pc:docMk/>
          <pc:sldMk cId="3085061585" sldId="277"/>
        </pc:sldMkLst>
        <pc:spChg chg="mod">
          <ac:chgData name="Smith, Mike" userId="fd68b96f-d6bb-4c79-994a-7859c22e374b" providerId="ADAL" clId="{D5748F9F-6D5E-4907-B55B-D9A937CCCF86}" dt="2026-09-25T12:02:15.373" v="270" actId="113"/>
          <ac:spMkLst>
            <pc:docMk/>
            <pc:sldMk cId="3085061585" sldId="277"/>
            <ac:spMk id="6" creationId="{8C298CA9-1C35-4D9B-1530-DD97D100DFFA}"/>
          </ac:spMkLst>
        </pc:spChg>
      </pc:sldChg>
      <pc:sldChg chg="modSp mod">
        <pc:chgData name="Smith, Mike" userId="fd68b96f-d6bb-4c79-994a-7859c22e374b" providerId="ADAL" clId="{D5748F9F-6D5E-4907-B55B-D9A937CCCF86}" dt="2026-10-05T08:05:48.445" v="275" actId="1076"/>
        <pc:sldMkLst>
          <pc:docMk/>
          <pc:sldMk cId="856045763" sldId="288"/>
        </pc:sldMkLst>
        <pc:spChg chg="mod">
          <ac:chgData name="Smith, Mike" userId="fd68b96f-d6bb-4c79-994a-7859c22e374b" providerId="ADAL" clId="{D5748F9F-6D5E-4907-B55B-D9A937CCCF86}" dt="2026-10-05T08:05:48.445" v="275" actId="1076"/>
          <ac:spMkLst>
            <pc:docMk/>
            <pc:sldMk cId="856045763" sldId="288"/>
            <ac:spMk id="7" creationId="{B24F5129-EBDC-66C7-BC8D-BC1EAFD1866F}"/>
          </ac:spMkLst>
        </pc:spChg>
      </pc:sldChg>
      <pc:sldChg chg="ord">
        <pc:chgData name="Smith, Mike" userId="fd68b96f-d6bb-4c79-994a-7859c22e374b" providerId="ADAL" clId="{D5748F9F-6D5E-4907-B55B-D9A937CCCF86}" dt="2026-10-05T07:50:57.054" v="272"/>
        <pc:sldMkLst>
          <pc:docMk/>
          <pc:sldMk cId="3985062907" sldId="291"/>
        </pc:sldMkLst>
      </pc:sldChg>
      <pc:sldChg chg="modSp mod">
        <pc:chgData name="Smith, Mike" userId="fd68b96f-d6bb-4c79-994a-7859c22e374b" providerId="ADAL" clId="{D5748F9F-6D5E-4907-B55B-D9A937CCCF86}" dt="2026-09-25T10:41:19.336" v="5" actId="20577"/>
        <pc:sldMkLst>
          <pc:docMk/>
          <pc:sldMk cId="1702930705" sldId="297"/>
        </pc:sldMkLst>
        <pc:spChg chg="mod">
          <ac:chgData name="Smith, Mike" userId="fd68b96f-d6bb-4c79-994a-7859c22e374b" providerId="ADAL" clId="{D5748F9F-6D5E-4907-B55B-D9A937CCCF86}" dt="2026-09-25T10:41:19.336" v="5" actId="20577"/>
          <ac:spMkLst>
            <pc:docMk/>
            <pc:sldMk cId="1702930705" sldId="297"/>
            <ac:spMk id="6" creationId="{ECFCB903-A34E-1D64-7FD9-98F5E67BD581}"/>
          </ac:spMkLst>
        </pc:spChg>
      </pc:sldChg>
      <pc:sldChg chg="modSp add mod">
        <pc:chgData name="Smith, Mike" userId="fd68b96f-d6bb-4c79-994a-7859c22e374b" providerId="ADAL" clId="{D5748F9F-6D5E-4907-B55B-D9A937CCCF86}" dt="2026-09-25T12:01:23.736" v="266" actId="114"/>
        <pc:sldMkLst>
          <pc:docMk/>
          <pc:sldMk cId="3175729883" sldId="299"/>
        </pc:sldMkLst>
        <pc:spChg chg="mod">
          <ac:chgData name="Smith, Mike" userId="fd68b96f-d6bb-4c79-994a-7859c22e374b" providerId="ADAL" clId="{D5748F9F-6D5E-4907-B55B-D9A937CCCF86}" dt="2026-09-25T12:01:08.120" v="264" actId="14100"/>
          <ac:spMkLst>
            <pc:docMk/>
            <pc:sldMk cId="3175729883" sldId="299"/>
            <ac:spMk id="4" creationId="{3C4FE436-AE50-5259-5489-CEEB6724C53B}"/>
          </ac:spMkLst>
        </pc:spChg>
        <pc:spChg chg="mod">
          <ac:chgData name="Smith, Mike" userId="fd68b96f-d6bb-4c79-994a-7859c22e374b" providerId="ADAL" clId="{D5748F9F-6D5E-4907-B55B-D9A937CCCF86}" dt="2026-09-25T12:01:23.736" v="266" actId="114"/>
          <ac:spMkLst>
            <pc:docMk/>
            <pc:sldMk cId="3175729883" sldId="299"/>
            <ac:spMk id="5" creationId="{C84DC361-3A9B-B87F-578C-FCEB9DAC6441}"/>
          </ac:spMkLst>
        </pc:spChg>
        <pc:picChg chg="mod">
          <ac:chgData name="Smith, Mike" userId="fd68b96f-d6bb-4c79-994a-7859c22e374b" providerId="ADAL" clId="{D5748F9F-6D5E-4907-B55B-D9A937CCCF86}" dt="2026-09-25T11:58:00.067" v="7" actId="14826"/>
          <ac:picMkLst>
            <pc:docMk/>
            <pc:sldMk cId="3175729883" sldId="299"/>
            <ac:picMk id="8" creationId="{A05CBA6A-6BFC-D5FE-EBAB-9785367B706A}"/>
          </ac:picMkLst>
        </pc:picChg>
      </pc:sldChg>
    </pc:docChg>
  </pc:docChgLst>
  <pc:docChgLst>
    <pc:chgData name="Smith, Mike" userId="fd68b96f-d6bb-4c79-994a-7859c22e374b" providerId="ADAL" clId="{1F6E512F-AE3F-48DE-BBBA-3130C00D45F0}"/>
    <pc:docChg chg="undo custSel modSld">
      <pc:chgData name="Smith, Mike" userId="fd68b96f-d6bb-4c79-994a-7859c22e374b" providerId="ADAL" clId="{1F6E512F-AE3F-48DE-BBBA-3130C00D45F0}" dt="2026-10-08T22:31:26.155" v="8" actId="1576"/>
      <pc:docMkLst>
        <pc:docMk/>
      </pc:docMkLst>
      <pc:sldChg chg="modSp mod">
        <pc:chgData name="Smith, Mike" userId="fd68b96f-d6bb-4c79-994a-7859c22e374b" providerId="ADAL" clId="{1F6E512F-AE3F-48DE-BBBA-3130C00D45F0}" dt="2026-10-08T22:31:26.155" v="8" actId="1576"/>
        <pc:sldMkLst>
          <pc:docMk/>
          <pc:sldMk cId="1658898375" sldId="283"/>
        </pc:sldMkLst>
        <pc:spChg chg="mod">
          <ac:chgData name="Smith, Mike" userId="fd68b96f-d6bb-4c79-994a-7859c22e374b" providerId="ADAL" clId="{1F6E512F-AE3F-48DE-BBBA-3130C00D45F0}" dt="2026-10-08T22:31:26.155" v="8" actId="1576"/>
          <ac:spMkLst>
            <pc:docMk/>
            <pc:sldMk cId="1658898375" sldId="283"/>
            <ac:spMk id="4" creationId="{01EE5CC9-F6EF-D8E1-A8E3-3E1D19A85B40}"/>
          </ac:spMkLst>
        </pc:spChg>
        <pc:spChg chg="mod">
          <ac:chgData name="Smith, Mike" userId="fd68b96f-d6bb-4c79-994a-7859c22e374b" providerId="ADAL" clId="{1F6E512F-AE3F-48DE-BBBA-3130C00D45F0}" dt="2026-10-08T22:30:14.617" v="6" actId="1076"/>
          <ac:spMkLst>
            <pc:docMk/>
            <pc:sldMk cId="1658898375" sldId="283"/>
            <ac:spMk id="8" creationId="{01D35DAE-D895-5B4A-7B4D-1EF7F68D55BE}"/>
          </ac:spMkLst>
        </pc:spChg>
      </pc:sldChg>
      <pc:sldChg chg="modSp mod">
        <pc:chgData name="Smith, Mike" userId="fd68b96f-d6bb-4c79-994a-7859c22e374b" providerId="ADAL" clId="{1F6E512F-AE3F-48DE-BBBA-3130C00D45F0}" dt="2026-10-08T22:26:38.492" v="1" actId="1576"/>
        <pc:sldMkLst>
          <pc:docMk/>
          <pc:sldMk cId="1753489256" sldId="294"/>
        </pc:sldMkLst>
        <pc:spChg chg="mod">
          <ac:chgData name="Smith, Mike" userId="fd68b96f-d6bb-4c79-994a-7859c22e374b" providerId="ADAL" clId="{1F6E512F-AE3F-48DE-BBBA-3130C00D45F0}" dt="2026-10-08T22:26:38.492" v="1" actId="1576"/>
          <ac:spMkLst>
            <pc:docMk/>
            <pc:sldMk cId="1753489256" sldId="294"/>
            <ac:spMk id="5" creationId="{C82A08B6-61EF-36F1-BCDC-C9A6AFBF12C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762EC5-1BDD-4F66-A492-C0B273087BF6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26F5B5-6C5B-4548-AC6A-695F9A69D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81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26F5B5-6C5B-4548-AC6A-695F9A69D53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0685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7E7D0-1B73-ABC7-E21D-C03B986E4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7F5191-04CB-0EB7-7D68-3826967366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FAA482-227F-52CE-404B-DDCE94044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49391F-43D0-45D2-330F-ED04B3FD8B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26F5B5-6C5B-4548-AC6A-695F9A69D53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481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77D11-D152-33C5-E1AE-EF7F90953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32B552-D60A-EEF2-0F21-4C9B56400D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F263E5-D3D8-EE75-0E4C-E3CB537115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EFB1AB-C45C-D44E-BE6A-20565DFD1C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26F5B5-6C5B-4548-AC6A-695F9A69D53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9163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396C3-C057-2C71-2C65-A055EB001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1915E6-5EBE-5885-5A68-6A8B1A8276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06981C-786B-BFA4-1AA6-A274DF6290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7096B1-5980-76D9-8906-B9308749CD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26F5B5-6C5B-4548-AC6A-695F9A69D53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4484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4E938-0A03-62E8-7222-91E54A90B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15AF77-691C-4CFD-29C7-3A7227F4EB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7471DC-9CA1-3C78-8BF4-30CC3EB380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3641E1-E642-71CE-5E16-EB2B14AC15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26F5B5-6C5B-4548-AC6A-695F9A69D53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6100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resentation Title">
    <p:bg>
      <p:bgPr>
        <a:solidFill>
          <a:srgbClr val="0000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D884F4-659B-441F-45EE-F923C221E50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4982" y="5762143"/>
            <a:ext cx="1443897" cy="589314"/>
          </a:xfrm>
          <a:prstGeom prst="rect">
            <a:avLst/>
          </a:prstGeom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4B97BE01-F0D5-3584-357C-76DC10137D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798" y="648878"/>
            <a:ext cx="9186800" cy="2436565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 lang="en-US" sz="7200" b="1" kern="1200" spc="-25" dirty="0">
                <a:solidFill>
                  <a:schemeClr val="bg1"/>
                </a:solidFill>
                <a:latin typeface="Pfizer Tomorrow" panose="02010503040201060303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Presentation Name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3688C328-0B4B-58D0-9900-6682D7CF32F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8097" y="3226917"/>
            <a:ext cx="4871840" cy="13492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800" b="0" i="0" kern="1200" spc="-50" dirty="0" smtClean="0">
                <a:solidFill>
                  <a:schemeClr val="bg1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2pPr>
            <a:lvl3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Subhead Here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9431BDA7-408E-5430-44C0-841A25EDBB9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25179" y="5953479"/>
            <a:ext cx="4871840" cy="42207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lang="en-US" sz="2000" b="0" i="0" kern="1200" spc="-50" dirty="0" smtClean="0">
                <a:solidFill>
                  <a:schemeClr val="bg1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2pPr>
            <a:lvl3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Date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A75169-BD02-C8C2-7994-26CD0B402F72}"/>
              </a:ext>
            </a:extLst>
          </p:cNvPr>
          <p:cNvSpPr txBox="1"/>
          <p:nvPr/>
        </p:nvSpPr>
        <p:spPr>
          <a:xfrm>
            <a:off x="9321229" y="6519446"/>
            <a:ext cx="2357610" cy="20005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 rtl="0"/>
            <a:r>
              <a:rPr lang="en-US" sz="700" b="1" i="0" kern="1200" dirty="0">
                <a:solidFill>
                  <a:schemeClr val="bg1"/>
                </a:solidFill>
                <a:latin typeface="Pfizer Diatype Office" panose="020B0504040202060203" pitchFamily="34" charset="77"/>
                <a:ea typeface="+mn-ea"/>
                <a:cs typeface="+mn-cs"/>
              </a:rPr>
              <a:t>Pfizer 2026</a:t>
            </a:r>
          </a:p>
        </p:txBody>
      </p:sp>
    </p:spTree>
    <p:extLst>
      <p:ext uri="{BB962C8B-B14F-4D97-AF65-F5344CB8AC3E}">
        <p14:creationId xmlns:p14="http://schemas.microsoft.com/office/powerpoint/2010/main" val="3146956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resentation Title with Image">
    <p:bg>
      <p:bgPr>
        <a:solidFill>
          <a:srgbClr val="0000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77BB5660-0ACC-420C-FE42-E4567F70BFD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fizer Diatype Office" panose="020B0504040202060203" pitchFamily="34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D884F4-659B-441F-45EE-F923C221E50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4982" y="5762143"/>
            <a:ext cx="1443897" cy="589314"/>
          </a:xfrm>
          <a:prstGeom prst="rect">
            <a:avLst/>
          </a:prstGeom>
        </p:spPr>
      </p:pic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9431BDA7-408E-5430-44C0-841A25EDBB9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25179" y="5953479"/>
            <a:ext cx="4871840" cy="42207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lang="en-US" sz="2000" b="0" i="0" kern="1200" spc="-50" dirty="0" smtClean="0">
                <a:solidFill>
                  <a:schemeClr val="bg1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2pPr>
            <a:lvl3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Date Here</a:t>
            </a:r>
          </a:p>
        </p:txBody>
      </p:sp>
      <p:sp>
        <p:nvSpPr>
          <p:cNvPr id="3" name="Title 6">
            <a:extLst>
              <a:ext uri="{FF2B5EF4-FFF2-40B4-BE49-F238E27FC236}">
                <a16:creationId xmlns:a16="http://schemas.microsoft.com/office/drawing/2014/main" id="{DB4DEE37-4C57-A98E-FC92-AA751D7B20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798" y="648878"/>
            <a:ext cx="9186800" cy="2436565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 lang="en-US" sz="7200" b="1" kern="1200" spc="-25" dirty="0">
                <a:solidFill>
                  <a:schemeClr val="bg1"/>
                </a:solidFill>
                <a:latin typeface="Pfizer Tomorrow" panose="02010503040201060303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Presentation Name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21666A8F-937A-95F5-09E9-A7E0813E85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8097" y="3226917"/>
            <a:ext cx="4871840" cy="13492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800" b="0" i="0" kern="1200" spc="-50" dirty="0" smtClean="0">
                <a:solidFill>
                  <a:schemeClr val="bg1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2pPr>
            <a:lvl3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Subhead Here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4F6DA5-17F8-F45E-C899-C9DDB8A0FCF8}"/>
              </a:ext>
            </a:extLst>
          </p:cNvPr>
          <p:cNvSpPr txBox="1"/>
          <p:nvPr/>
        </p:nvSpPr>
        <p:spPr>
          <a:xfrm>
            <a:off x="9321229" y="6519446"/>
            <a:ext cx="2357610" cy="20005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 rtl="0"/>
            <a:r>
              <a:rPr lang="en-US" sz="700" b="1" i="0" kern="1200" dirty="0">
                <a:solidFill>
                  <a:schemeClr val="bg1"/>
                </a:solidFill>
                <a:latin typeface="Pfizer Diatype Office" panose="020B0504040202060203" pitchFamily="34" charset="77"/>
                <a:ea typeface="+mn-ea"/>
                <a:cs typeface="+mn-cs"/>
              </a:rPr>
              <a:t>Pfizer 2026</a:t>
            </a:r>
          </a:p>
        </p:txBody>
      </p:sp>
    </p:spTree>
    <p:extLst>
      <p:ext uri="{BB962C8B-B14F-4D97-AF65-F5344CB8AC3E}">
        <p14:creationId xmlns:p14="http://schemas.microsoft.com/office/powerpoint/2010/main" val="1249167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resentation Title with Light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77BB5660-0ACC-420C-FE42-E4567F70BFD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fizer Diatype Office" panose="020B0504040202060203" pitchFamily="34" charset="77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9431BDA7-408E-5430-44C0-841A25EDBB9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25179" y="5953479"/>
            <a:ext cx="4871840" cy="42207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lang="en-US" sz="2000" b="0" i="0" kern="1200" spc="-50" dirty="0" smtClean="0">
                <a:solidFill>
                  <a:srgbClr val="0000CA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2pPr>
            <a:lvl3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Date Here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3931F2-C551-2AD4-7B6A-9581E89422C7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2280" y="5761669"/>
            <a:ext cx="1442647" cy="589788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47779D81-C5B7-9D06-E85C-734849E79E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798" y="648878"/>
            <a:ext cx="9186800" cy="2436565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 lang="en-US" sz="7200" b="1" kern="1200" spc="-25" dirty="0">
                <a:solidFill>
                  <a:srgbClr val="0000CA"/>
                </a:solidFill>
                <a:latin typeface="Pfizer Tomorrow" panose="02010503040201060303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Presentation Name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5CB0D16B-5D71-98DD-1BB3-47FCB31844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8097" y="3226917"/>
            <a:ext cx="4871840" cy="13492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800" b="0" i="0" kern="1200" spc="-50" dirty="0" smtClean="0">
                <a:solidFill>
                  <a:srgbClr val="0000CA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2pPr>
            <a:lvl3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Subhead Here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6C1915-A948-27F3-421D-7A432528F01F}"/>
              </a:ext>
            </a:extLst>
          </p:cNvPr>
          <p:cNvSpPr txBox="1"/>
          <p:nvPr/>
        </p:nvSpPr>
        <p:spPr>
          <a:xfrm>
            <a:off x="9321229" y="6519446"/>
            <a:ext cx="2357610" cy="20005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 rtl="0"/>
            <a:r>
              <a:rPr lang="en-US" sz="700" b="1" i="0" kern="1200">
                <a:solidFill>
                  <a:schemeClr val="bg1">
                    <a:lumMod val="50000"/>
                  </a:schemeClr>
                </a:solidFill>
                <a:latin typeface="Pfizer Diatype Office" panose="020B0504040202060203" pitchFamily="34" charset="77"/>
                <a:ea typeface="+mn-ea"/>
                <a:cs typeface="+mn-cs"/>
              </a:rPr>
              <a:t>Pfizer 2026 |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048381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resentation Title with Heli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5B36C6-7A31-C0B7-00BF-79489D20ACA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24592" y="2292711"/>
            <a:ext cx="9885663" cy="4603388"/>
          </a:xfrm>
          <a:prstGeom prst="rect">
            <a:avLst/>
          </a:prstGeom>
        </p:spPr>
      </p:pic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9431BDA7-408E-5430-44C0-841A25EDBB9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25179" y="5953479"/>
            <a:ext cx="4871840" cy="42207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lang="en-US" sz="2000" b="0" i="0" kern="1200" spc="-50" dirty="0" smtClean="0">
                <a:solidFill>
                  <a:srgbClr val="0000CA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2pPr>
            <a:lvl3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Date Here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3931F2-C551-2AD4-7B6A-9581E89422C7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2280" y="5761669"/>
            <a:ext cx="1442647" cy="589788"/>
          </a:xfrm>
          <a:prstGeom prst="rect">
            <a:avLst/>
          </a:prstGeom>
        </p:spPr>
      </p:pic>
      <p:sp>
        <p:nvSpPr>
          <p:cNvPr id="2" name="Title 6">
            <a:extLst>
              <a:ext uri="{FF2B5EF4-FFF2-40B4-BE49-F238E27FC236}">
                <a16:creationId xmlns:a16="http://schemas.microsoft.com/office/drawing/2014/main" id="{F8EAB0D2-5E3C-D715-5795-DDDA0402A0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798" y="648878"/>
            <a:ext cx="9186800" cy="2436565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 lang="en-US" sz="7200" b="1" kern="1200" spc="-25" dirty="0">
                <a:solidFill>
                  <a:srgbClr val="0000CA"/>
                </a:solidFill>
                <a:latin typeface="Pfizer Tomorrow" panose="02010503040201060303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Presentation Name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43D5313-585F-7759-4B50-E0558D95C82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8097" y="3226917"/>
            <a:ext cx="4871840" cy="13492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800" b="0" i="0" kern="1200" spc="-50" dirty="0" smtClean="0">
                <a:solidFill>
                  <a:srgbClr val="0000CA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2pPr>
            <a:lvl3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Subhead Here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BF3C86-FF85-B6E6-637E-F327D7A73791}"/>
              </a:ext>
            </a:extLst>
          </p:cNvPr>
          <p:cNvSpPr txBox="1"/>
          <p:nvPr/>
        </p:nvSpPr>
        <p:spPr>
          <a:xfrm>
            <a:off x="9321229" y="6519446"/>
            <a:ext cx="2357610" cy="20005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 rtl="0"/>
            <a:r>
              <a:rPr lang="en-US" sz="700" b="1" i="0" kern="1200">
                <a:solidFill>
                  <a:schemeClr val="bg1">
                    <a:lumMod val="50000"/>
                  </a:schemeClr>
                </a:solidFill>
                <a:latin typeface="Pfizer Diatype Office" panose="020B0504040202060203" pitchFamily="34" charset="77"/>
                <a:ea typeface="+mn-ea"/>
                <a:cs typeface="+mn-cs"/>
              </a:rPr>
              <a:t>Pfizer 2026 |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901151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BF367-242E-D3A0-345A-11AB9FF428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2092A8-B6BB-4A50-46D4-8FE3B7AE0F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6C9EDC-371F-83EA-E2BE-3BBDC6E70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A9B42-8494-4D0E-844C-E2552237748A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AB0071-04CD-294A-CEF9-9721269E1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F11449-F967-E499-10B4-AA8E7094B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520C2-D1D1-475E-B245-D553482333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190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lue">
    <p:bg>
      <p:bgPr>
        <a:solidFill>
          <a:srgbClr val="0000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E124F571-6FC4-F49D-EACA-C6A78832D0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0384" y="615426"/>
            <a:ext cx="9186800" cy="3811609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 lang="en-US" sz="7200" b="1" kern="1200" spc="-25" dirty="0">
                <a:solidFill>
                  <a:schemeClr val="bg1"/>
                </a:solidFill>
                <a:latin typeface="Pfizer Tomorrow" panose="02010503040201060303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3" name="Slide Number Placeholder 13">
            <a:extLst>
              <a:ext uri="{FF2B5EF4-FFF2-40B4-BE49-F238E27FC236}">
                <a16:creationId xmlns:a16="http://schemas.microsoft.com/office/drawing/2014/main" id="{91BD0C0B-A98D-5936-804D-A5476E8CF1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438834" y="6515101"/>
            <a:ext cx="1143536" cy="15388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B39012A-6F33-204B-8224-A57BEFB0AAD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CEA907-6F56-E6DB-B767-45FE06E4969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2280" y="6408420"/>
            <a:ext cx="728130" cy="2971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BD7A029-15D9-FE7B-FD83-A16805E7FA0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884349" y="6519446"/>
            <a:ext cx="2357610" cy="20005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 rtl="0"/>
            <a:r>
              <a:rPr lang="en-US" sz="700" b="1" i="0" kern="1200" dirty="0">
                <a:solidFill>
                  <a:schemeClr val="bg1"/>
                </a:solidFill>
                <a:latin typeface="Pfizer Diatype Office" panose="020B0504040202060203" pitchFamily="34" charset="77"/>
                <a:ea typeface="+mn-ea"/>
                <a:cs typeface="+mn-cs"/>
              </a:rPr>
              <a:t>Pfizer 2026</a:t>
            </a:r>
          </a:p>
        </p:txBody>
      </p:sp>
    </p:spTree>
    <p:extLst>
      <p:ext uri="{BB962C8B-B14F-4D97-AF65-F5344CB8AC3E}">
        <p14:creationId xmlns:p14="http://schemas.microsoft.com/office/powerpoint/2010/main" val="11632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Light Blue">
    <p:bg>
      <p:bgPr>
        <a:solidFill>
          <a:srgbClr val="BDE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7B24C56-920F-2B18-DB34-7C7F9032B7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447543" y="6541227"/>
            <a:ext cx="1143536" cy="153889"/>
          </a:xfrm>
        </p:spPr>
        <p:txBody>
          <a:bodyPr/>
          <a:lstStyle/>
          <a:p>
            <a:fld id="{2B39012A-6F33-204B-8224-A57BEFB0AAD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6">
            <a:extLst>
              <a:ext uri="{FF2B5EF4-FFF2-40B4-BE49-F238E27FC236}">
                <a16:creationId xmlns:a16="http://schemas.microsoft.com/office/drawing/2014/main" id="{489E405B-0B26-17CF-37C3-F54FFF4BE8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0384" y="615426"/>
            <a:ext cx="9186800" cy="3811609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 lang="en-US" sz="72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553682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siness Unit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B14E41-4A21-621A-50D1-42254C93A3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5014"/>
          <a:stretch/>
        </p:blipFill>
        <p:spPr>
          <a:xfrm>
            <a:off x="8117334" y="0"/>
            <a:ext cx="4116603" cy="6858000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7B24C56-920F-2B18-DB34-7C7F9032B7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B39012A-6F33-204B-8224-A57BEFB0AAD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E5DBBA62-D904-006E-B801-C7D605941C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0384" y="615426"/>
            <a:ext cx="9186800" cy="3811609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 lang="en-US" sz="72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4044993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siness Unit Sec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7B24C56-920F-2B18-DB34-7C7F9032B7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B39012A-6F33-204B-8224-A57BEFB0AAD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205D67-596F-1000-A274-5C63C254CD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E5DBBA62-D904-006E-B801-C7D605941C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0384" y="615426"/>
            <a:ext cx="9186800" cy="3811609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 lang="en-US" sz="72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99A1C1D-865C-2E18-A343-440416C9C65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2281" y="6408033"/>
            <a:ext cx="728130" cy="297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104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with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7B24C56-920F-2B18-DB34-7C7F9032B7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B39012A-6F33-204B-8224-A57BEFB0AAD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6">
            <a:extLst>
              <a:ext uri="{FF2B5EF4-FFF2-40B4-BE49-F238E27FC236}">
                <a16:creationId xmlns:a16="http://schemas.microsoft.com/office/drawing/2014/main" id="{489E405B-0B26-17CF-37C3-F54FFF4BE8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397" y="615426"/>
            <a:ext cx="3154776" cy="405454"/>
          </a:xfrm>
          <a:prstGeom prst="rect">
            <a:avLst/>
          </a:prstGeom>
        </p:spPr>
        <p:txBody>
          <a:bodyPr/>
          <a:lstStyle>
            <a:lvl1pPr>
              <a:defRPr lang="en-US" sz="2999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Headline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AD7E2B1-793C-339F-DC80-26B6E30CEE6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9247" y="1344759"/>
            <a:ext cx="3427224" cy="44807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6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>
              <a:defRPr lang="en-US" sz="16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2pPr>
            <a:lvl3pPr>
              <a:defRPr lang="en-US" sz="16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3pPr>
            <a:lvl4pPr>
              <a:defRPr lang="en-US" sz="16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4pPr>
            <a:lvl5pPr>
              <a:defRPr lang="en-US" sz="1600" b="0" i="0" kern="1200" spc="-50" dirty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Body copy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82FA4958-90B2-CE63-F910-55E115CEFBF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5307116" y="685800"/>
            <a:ext cx="6274570" cy="54864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fizer Diatype Office" panose="020B0504040202060203" pitchFamily="34" charset="77"/>
              </a:defRPr>
            </a:lvl1pPr>
          </a:lstStyle>
          <a:p>
            <a:r>
              <a:rPr lang="en-US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1044960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ple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7B24C56-920F-2B18-DB34-7C7F9032B7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B39012A-6F33-204B-8224-A57BEFB0AAD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6">
            <a:extLst>
              <a:ext uri="{FF2B5EF4-FFF2-40B4-BE49-F238E27FC236}">
                <a16:creationId xmlns:a16="http://schemas.microsoft.com/office/drawing/2014/main" id="{489E405B-0B26-17CF-37C3-F54FFF4BE8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397" y="615426"/>
            <a:ext cx="3154776" cy="405454"/>
          </a:xfrm>
          <a:prstGeom prst="rect">
            <a:avLst/>
          </a:prstGeom>
        </p:spPr>
        <p:txBody>
          <a:bodyPr/>
          <a:lstStyle>
            <a:lvl1pPr>
              <a:defRPr lang="en-US" sz="2999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Headline Here</a:t>
            </a:r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82FA4958-90B2-CE63-F910-55E115CEFBF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568651" y="2156614"/>
            <a:ext cx="3626641" cy="318482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fizer Diatype Office" panose="020B0504040202060203" pitchFamily="34" charset="77"/>
              </a:defRPr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B8DC1310-20A2-AB9D-049B-21570496E61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9247" y="1344759"/>
            <a:ext cx="8149871" cy="553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>
              <a:defRPr lang="en-US" sz="18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2pPr>
            <a:lvl3pPr marL="914171" indent="0">
              <a:buNone/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Body copy here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Chart Placeholder 2">
            <a:extLst>
              <a:ext uri="{FF2B5EF4-FFF2-40B4-BE49-F238E27FC236}">
                <a16:creationId xmlns:a16="http://schemas.microsoft.com/office/drawing/2014/main" id="{2FB050F9-8DD3-9C2C-8D80-574DD369AE2A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4285636" y="2156614"/>
            <a:ext cx="3626641" cy="318482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fizer Diatype Office" panose="020B0504040202060203" pitchFamily="34" charset="77"/>
              </a:defRPr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10" name="Chart Placeholder 2">
            <a:extLst>
              <a:ext uri="{FF2B5EF4-FFF2-40B4-BE49-F238E27FC236}">
                <a16:creationId xmlns:a16="http://schemas.microsoft.com/office/drawing/2014/main" id="{097125FD-7E79-12F7-B732-3F97A29C6978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8002622" y="2156614"/>
            <a:ext cx="3626641" cy="318482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fizer Diatype Office" panose="020B0504040202060203" pitchFamily="34" charset="77"/>
              </a:defRPr>
            </a:lvl1pPr>
          </a:lstStyle>
          <a:p>
            <a:r>
              <a:rPr lang="en-US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37493471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7B24C56-920F-2B18-DB34-7C7F9032B7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B39012A-6F33-204B-8224-A57BEFB0AAD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4A457A2E-6AEE-943E-26A4-1C087EE7FC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397" y="615426"/>
            <a:ext cx="3154776" cy="405454"/>
          </a:xfrm>
          <a:prstGeom prst="rect">
            <a:avLst/>
          </a:prstGeom>
        </p:spPr>
        <p:txBody>
          <a:bodyPr/>
          <a:lstStyle>
            <a:lvl1pPr>
              <a:defRPr lang="en-US" sz="2699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Headline Here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6D53EA6-91B3-B6ED-269F-9F9A5A4F1543}"/>
              </a:ext>
            </a:extLst>
          </p:cNvPr>
          <p:cNvSpPr/>
          <p:nvPr userDrawn="1"/>
        </p:nvSpPr>
        <p:spPr>
          <a:xfrm>
            <a:off x="614625" y="1600200"/>
            <a:ext cx="2098535" cy="4125650"/>
          </a:xfrm>
          <a:prstGeom prst="roundRect">
            <a:avLst>
              <a:gd name="adj" fmla="val 6069"/>
            </a:avLst>
          </a:prstGeom>
          <a:solidFill>
            <a:srgbClr val="0098F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fizer Diatype Office" panose="020B0504040202060203" pitchFamily="34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1B32C02-7C77-7641-02DF-7E6E84F87948}"/>
              </a:ext>
            </a:extLst>
          </p:cNvPr>
          <p:cNvSpPr/>
          <p:nvPr userDrawn="1"/>
        </p:nvSpPr>
        <p:spPr>
          <a:xfrm>
            <a:off x="2829544" y="1600200"/>
            <a:ext cx="2098535" cy="4125650"/>
          </a:xfrm>
          <a:prstGeom prst="roundRect">
            <a:avLst>
              <a:gd name="adj" fmla="val 6069"/>
            </a:avLst>
          </a:prstGeom>
          <a:solidFill>
            <a:srgbClr val="0098F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fizer Diatype Office" panose="020B0504040202060203" pitchFamily="34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8C8A16A-A534-05DF-3089-5C0A4D509288}"/>
              </a:ext>
            </a:extLst>
          </p:cNvPr>
          <p:cNvSpPr/>
          <p:nvPr userDrawn="1"/>
        </p:nvSpPr>
        <p:spPr>
          <a:xfrm>
            <a:off x="5044464" y="1600200"/>
            <a:ext cx="2098535" cy="4125650"/>
          </a:xfrm>
          <a:prstGeom prst="roundRect">
            <a:avLst>
              <a:gd name="adj" fmla="val 6069"/>
            </a:avLst>
          </a:prstGeom>
          <a:solidFill>
            <a:srgbClr val="0098F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fizer Diatype Office" panose="020B0504040202060203" pitchFamily="34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794F59B-16FF-911B-E2AB-49612831AA11}"/>
              </a:ext>
            </a:extLst>
          </p:cNvPr>
          <p:cNvSpPr/>
          <p:nvPr userDrawn="1"/>
        </p:nvSpPr>
        <p:spPr>
          <a:xfrm>
            <a:off x="7259383" y="1600200"/>
            <a:ext cx="2098535" cy="4125650"/>
          </a:xfrm>
          <a:prstGeom prst="roundRect">
            <a:avLst>
              <a:gd name="adj" fmla="val 6069"/>
            </a:avLst>
          </a:prstGeom>
          <a:solidFill>
            <a:srgbClr val="0098F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fizer Diatype Office" panose="020B0504040202060203" pitchFamily="34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736257E-1703-F446-10FD-DAFEF9C1731B}"/>
              </a:ext>
            </a:extLst>
          </p:cNvPr>
          <p:cNvSpPr/>
          <p:nvPr userDrawn="1"/>
        </p:nvSpPr>
        <p:spPr>
          <a:xfrm>
            <a:off x="9503557" y="1600200"/>
            <a:ext cx="2098535" cy="4125650"/>
          </a:xfrm>
          <a:prstGeom prst="roundRect">
            <a:avLst>
              <a:gd name="adj" fmla="val 6069"/>
            </a:avLst>
          </a:prstGeom>
          <a:solidFill>
            <a:srgbClr val="0098F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fizer Diatype Office" panose="020B0504040202060203" pitchFamily="34" charset="77"/>
            </a:endParaRP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4B7B1E0D-05DE-3D0D-5A58-B0B08AEB1871}"/>
              </a:ext>
            </a:extLst>
          </p:cNvPr>
          <p:cNvSpPr txBox="1">
            <a:spLocks/>
          </p:cNvSpPr>
          <p:nvPr userDrawn="1"/>
        </p:nvSpPr>
        <p:spPr>
          <a:xfrm>
            <a:off x="10438834" y="6515101"/>
            <a:ext cx="1143536" cy="153889"/>
          </a:xfrm>
          <a:prstGeom prst="rect">
            <a:avLst/>
          </a:prstGeom>
        </p:spPr>
        <p:txBody>
          <a:bodyPr lIns="0" tIns="0" rIns="0" bIns="0" anchor="b"/>
          <a:lstStyle>
            <a:defPPr>
              <a:defRPr lang="en-US"/>
            </a:defPPr>
            <a:lvl1pPr marL="0" algn="r" defTabSz="457200" rtl="0" eaLnBrk="1" latinLnBrk="0" hangingPunct="1">
              <a:defRPr sz="1400" b="1" i="0" kern="1200">
                <a:solidFill>
                  <a:schemeClr val="accent1"/>
                </a:solidFill>
                <a:latin typeface="Pfizer Diatype Medium" panose="020B0504040202060203" pitchFamily="34" charset="77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39012A-6F33-204B-8224-A57BEFB0AAD0}" type="slidenum">
              <a:rPr lang="en-US" sz="700" b="1" i="0" smtClean="0">
                <a:latin typeface="Pfizer Diatype Office" panose="020B0504040202060203" pitchFamily="34" charset="77"/>
              </a:rPr>
              <a:pPr/>
              <a:t>‹#›</a:t>
            </a:fld>
            <a:endParaRPr lang="en-US" sz="700" b="1" i="0">
              <a:latin typeface="Pfizer Diatype Office" panose="020B0504040202060203" pitchFamily="34" charset="77"/>
            </a:endParaRP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6443CB24-4334-C4FC-0E67-D4AB22912FE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9412" y="1750817"/>
            <a:ext cx="1837755" cy="1618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0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1pPr>
            <a:lvl2pPr marL="457086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2pPr>
            <a:lvl3pPr marL="914171" indent="0">
              <a:buNone/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2E233FC7-23FB-E54C-3249-87FD6EF44BF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0909" y="1912657"/>
            <a:ext cx="1837755" cy="3051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1pPr>
            <a:lvl2pPr marL="457086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2pPr>
            <a:lvl3pPr marL="914171" indent="0">
              <a:buNone/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Headline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046C3915-7EEC-AD61-84D9-B0F21A7F40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0909" y="2436467"/>
            <a:ext cx="1837755" cy="28213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6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>
              <a:defRPr lang="en-US" sz="16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2pPr>
            <a:lvl3pPr marL="914171" indent="0">
              <a:buNone/>
              <a:defRPr lang="en-US" sz="16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6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6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Body copy here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D40CC42D-F686-6BA3-A384-D2A6387FA1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72816" y="1750817"/>
            <a:ext cx="1837755" cy="1618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0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1pPr>
            <a:lvl2pPr marL="457086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2pPr>
            <a:lvl3pPr marL="914171" indent="0">
              <a:buNone/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1F70248A-4A7B-C4B1-ACCB-81D7DCC6F9B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964312" y="1912657"/>
            <a:ext cx="1837755" cy="3051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1pPr>
            <a:lvl2pPr marL="457086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2pPr>
            <a:lvl3pPr marL="914171" indent="0">
              <a:buNone/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Headline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080DEA8E-0513-6F8C-C393-B7D0A7DE58C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64312" y="2436467"/>
            <a:ext cx="1837755" cy="28213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6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>
              <a:defRPr lang="en-US" sz="16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2pPr>
            <a:lvl3pPr marL="914171" indent="0">
              <a:buNone/>
              <a:defRPr lang="en-US" sz="16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6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6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Body copy here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079177C4-8512-A58C-3DE9-B16551A6186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91619" y="1750817"/>
            <a:ext cx="1837755" cy="1618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0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1pPr>
            <a:lvl2pPr marL="457086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2pPr>
            <a:lvl3pPr marL="914171" indent="0">
              <a:buNone/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3930330C-ED1C-802D-3794-40CE6FC3473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83116" y="1912657"/>
            <a:ext cx="1837755" cy="3051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1pPr>
            <a:lvl2pPr marL="457086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2pPr>
            <a:lvl3pPr marL="914171" indent="0">
              <a:buNone/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Headline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024F8970-84F0-E252-CC21-1F64457C70B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116" y="2436467"/>
            <a:ext cx="1837755" cy="28213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6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>
              <a:defRPr lang="en-US" sz="16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2pPr>
            <a:lvl3pPr marL="914171" indent="0">
              <a:buNone/>
              <a:defRPr lang="en-US" sz="16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6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6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Body copy here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AACC2CFC-DBD1-C32A-5CB2-E5180FC39D4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410423" y="1750817"/>
            <a:ext cx="1837755" cy="1618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0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1pPr>
            <a:lvl2pPr marL="457086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2pPr>
            <a:lvl3pPr marL="914171" indent="0">
              <a:buNone/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2850F291-294B-E107-27A4-98BE3833FD2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01920" y="1912657"/>
            <a:ext cx="1837755" cy="3051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1pPr>
            <a:lvl2pPr marL="457086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2pPr>
            <a:lvl3pPr marL="914171" indent="0">
              <a:buNone/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Headline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DA3ECA4A-7DD2-790F-B38D-EA2D4F7C502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401920" y="2436467"/>
            <a:ext cx="1837755" cy="28213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6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>
              <a:defRPr lang="en-US" sz="16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2pPr>
            <a:lvl3pPr marL="914171" indent="0">
              <a:buNone/>
              <a:defRPr lang="en-US" sz="16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6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6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Body copy here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F6529C93-D17D-2B51-5BC5-B297908CB14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651527" y="1750817"/>
            <a:ext cx="1837755" cy="1618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0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1pPr>
            <a:lvl2pPr marL="457086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2pPr>
            <a:lvl3pPr marL="914171" indent="0">
              <a:buNone/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330945C6-4CB1-E470-5372-945DFC073A7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643023" y="1912657"/>
            <a:ext cx="1837755" cy="3051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1pPr>
            <a:lvl2pPr marL="457086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2pPr>
            <a:lvl3pPr marL="914171" indent="0">
              <a:buNone/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Headline</a:t>
            </a:r>
          </a:p>
        </p:txBody>
      </p:sp>
      <p:sp>
        <p:nvSpPr>
          <p:cNvPr id="36" name="Text Placeholder 10">
            <a:extLst>
              <a:ext uri="{FF2B5EF4-FFF2-40B4-BE49-F238E27FC236}">
                <a16:creationId xmlns:a16="http://schemas.microsoft.com/office/drawing/2014/main" id="{D89B8D6B-2541-4E16-68F8-E5888BD3507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643023" y="2436467"/>
            <a:ext cx="1837755" cy="28213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6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>
              <a:defRPr lang="en-US" sz="16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2pPr>
            <a:lvl3pPr marL="914171" indent="0">
              <a:buNone/>
              <a:defRPr lang="en-US" sz="16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6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6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Body copy here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1685623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8C05D17C-DEAE-7724-2AC9-1A63A290B510}"/>
              </a:ext>
            </a:extLst>
          </p:cNvPr>
          <p:cNvGrpSpPr/>
          <p:nvPr userDrawn="1"/>
        </p:nvGrpSpPr>
        <p:grpSpPr>
          <a:xfrm>
            <a:off x="606004" y="1501332"/>
            <a:ext cx="2610938" cy="4283242"/>
            <a:chOff x="1212167" y="7796463"/>
            <a:chExt cx="4206238" cy="8566483"/>
          </a:xfrm>
        </p:grpSpPr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7C4B856E-DE77-1F05-F6C4-30D0EB8B9D7C}"/>
                </a:ext>
              </a:extLst>
            </p:cNvPr>
            <p:cNvSpPr/>
            <p:nvPr/>
          </p:nvSpPr>
          <p:spPr>
            <a:xfrm>
              <a:off x="1220788" y="7796463"/>
              <a:ext cx="4197617" cy="8566483"/>
            </a:xfrm>
            <a:prstGeom prst="roundRect">
              <a:avLst>
                <a:gd name="adj" fmla="val 6397"/>
              </a:avLst>
            </a:prstGeom>
            <a:solidFill>
              <a:srgbClr val="0098FF">
                <a:alpha val="10000"/>
              </a:srgbClr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50" b="0" i="0">
                <a:latin typeface="Pfizer Diatype Office" panose="020B0504040202060203" pitchFamily="34" charset="77"/>
              </a:endParaRPr>
            </a:p>
          </p:txBody>
        </p:sp>
        <p:sp>
          <p:nvSpPr>
            <p:cNvPr id="20" name="Round Same Side Corner Rectangle 19">
              <a:extLst>
                <a:ext uri="{FF2B5EF4-FFF2-40B4-BE49-F238E27FC236}">
                  <a16:creationId xmlns:a16="http://schemas.microsoft.com/office/drawing/2014/main" id="{A5EB5ED4-79BD-E23D-AE38-9E1463CC90C2}"/>
                </a:ext>
              </a:extLst>
            </p:cNvPr>
            <p:cNvSpPr/>
            <p:nvPr/>
          </p:nvSpPr>
          <p:spPr>
            <a:xfrm>
              <a:off x="1212167" y="7796463"/>
              <a:ext cx="4197617" cy="923331"/>
            </a:xfrm>
            <a:prstGeom prst="round2SameRect">
              <a:avLst>
                <a:gd name="adj1" fmla="val 29698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50" b="0" i="0">
                <a:latin typeface="Pfizer Diatype Office" panose="020B0504040202060203" pitchFamily="34" charset="77"/>
              </a:endParaRPr>
            </a:p>
          </p:txBody>
        </p: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7B24C56-920F-2B18-DB34-7C7F9032B7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B39012A-6F33-204B-8224-A57BEFB0AAD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4A457A2E-6AEE-943E-26A4-1C087EE7FC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397" y="615426"/>
            <a:ext cx="3154776" cy="405454"/>
          </a:xfrm>
          <a:prstGeom prst="rect">
            <a:avLst/>
          </a:prstGeom>
        </p:spPr>
        <p:txBody>
          <a:bodyPr/>
          <a:lstStyle>
            <a:lvl1pPr>
              <a:defRPr lang="en-US" sz="2699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Headline Here</a:t>
            </a: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4B7B1E0D-05DE-3D0D-5A58-B0B08AEB1871}"/>
              </a:ext>
            </a:extLst>
          </p:cNvPr>
          <p:cNvSpPr txBox="1">
            <a:spLocks/>
          </p:cNvSpPr>
          <p:nvPr userDrawn="1"/>
        </p:nvSpPr>
        <p:spPr>
          <a:xfrm>
            <a:off x="10438834" y="6515101"/>
            <a:ext cx="1143536" cy="153889"/>
          </a:xfrm>
          <a:prstGeom prst="rect">
            <a:avLst/>
          </a:prstGeom>
        </p:spPr>
        <p:txBody>
          <a:bodyPr lIns="0" tIns="0" rIns="0" bIns="0" anchor="b"/>
          <a:lstStyle>
            <a:defPPr>
              <a:defRPr lang="en-US"/>
            </a:defPPr>
            <a:lvl1pPr marL="0" algn="r" defTabSz="457200" rtl="0" eaLnBrk="1" latinLnBrk="0" hangingPunct="1">
              <a:defRPr sz="1400" b="1" i="0" kern="1200">
                <a:solidFill>
                  <a:schemeClr val="accent1"/>
                </a:solidFill>
                <a:latin typeface="Pfizer Diatype Medium" panose="020B0504040202060203" pitchFamily="34" charset="77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39012A-6F33-204B-8224-A57BEFB0AAD0}" type="slidenum">
              <a:rPr lang="en-US" sz="700" b="1" i="0" smtClean="0">
                <a:latin typeface="Pfizer Diatype Office" panose="020B0504040202060203" pitchFamily="34" charset="77"/>
              </a:rPr>
              <a:pPr/>
              <a:t>‹#›</a:t>
            </a:fld>
            <a:endParaRPr lang="en-US" sz="700" b="1" i="0">
              <a:latin typeface="Pfizer Diatype Office" panose="020B0504040202060203" pitchFamily="34" charset="77"/>
            </a:endParaRP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3930330C-ED1C-802D-3794-40CE6FC3473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2514" y="1618360"/>
            <a:ext cx="2352589" cy="2942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1" kern="1200" spc="-25" dirty="0">
                <a:solidFill>
                  <a:schemeClr val="bg1"/>
                </a:solidFill>
                <a:latin typeface="Pfizer Tomorrow" panose="02010503040201060303" pitchFamily="2" charset="77"/>
                <a:ea typeface="+mn-ea"/>
                <a:cs typeface="+mn-cs"/>
              </a:defRPr>
            </a:lvl1pPr>
            <a:lvl2pPr marL="457086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2pPr>
            <a:lvl3pPr marL="914171" indent="0">
              <a:buNone/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Headline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024F8970-84F0-E252-CC21-1F64457C70B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4272" y="2090391"/>
            <a:ext cx="2316205" cy="6155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0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>
              <a:defRPr lang="en-US" sz="10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2pPr>
            <a:lvl3pPr marL="914171" indent="0">
              <a:buNone/>
              <a:defRPr lang="en-US" sz="16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6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6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Body copy here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3B12CC34-81B1-8461-6DCE-5F8414C3517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4272" y="4768276"/>
            <a:ext cx="2316205" cy="8618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0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>
              <a:defRPr lang="en-US" sz="10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2pPr>
            <a:lvl3pPr marL="914171" indent="0">
              <a:buNone/>
              <a:defRPr lang="en-US" sz="16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6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6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Body copy here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3" name="Text Placeholder 10">
            <a:extLst>
              <a:ext uri="{FF2B5EF4-FFF2-40B4-BE49-F238E27FC236}">
                <a16:creationId xmlns:a16="http://schemas.microsoft.com/office/drawing/2014/main" id="{B1D67C4F-DE77-01FF-BEBD-A427C155977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22514" y="2950772"/>
            <a:ext cx="2352589" cy="1846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200" b="0" i="0" kern="1200" spc="-25" dirty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 marL="457086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2pPr>
            <a:lvl3pPr marL="914171" indent="0">
              <a:buNone/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Headline</a:t>
            </a:r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ACE3369D-29C3-51FB-92F3-6405B1B31D7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22514" y="4557503"/>
            <a:ext cx="2352589" cy="1846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200" b="0" i="0" kern="1200" spc="-25" dirty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 marL="457086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2pPr>
            <a:lvl3pPr marL="914171" indent="0">
              <a:buNone/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Headline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3CD5AA2-A503-219C-F707-C2F01E8C37CE}"/>
              </a:ext>
            </a:extLst>
          </p:cNvPr>
          <p:cNvGrpSpPr/>
          <p:nvPr userDrawn="1"/>
        </p:nvGrpSpPr>
        <p:grpSpPr>
          <a:xfrm>
            <a:off x="3395689" y="1501332"/>
            <a:ext cx="2610938" cy="4283242"/>
            <a:chOff x="1212167" y="7796463"/>
            <a:chExt cx="4206238" cy="8566483"/>
          </a:xfrm>
        </p:grpSpPr>
        <p:sp>
          <p:nvSpPr>
            <p:cNvPr id="47" name="Rounded Rectangle 46">
              <a:extLst>
                <a:ext uri="{FF2B5EF4-FFF2-40B4-BE49-F238E27FC236}">
                  <a16:creationId xmlns:a16="http://schemas.microsoft.com/office/drawing/2014/main" id="{3F196C5A-74EE-1F93-5207-DCA4F4BC07B4}"/>
                </a:ext>
              </a:extLst>
            </p:cNvPr>
            <p:cNvSpPr/>
            <p:nvPr/>
          </p:nvSpPr>
          <p:spPr>
            <a:xfrm>
              <a:off x="1220788" y="7796463"/>
              <a:ext cx="4197617" cy="8566483"/>
            </a:xfrm>
            <a:prstGeom prst="roundRect">
              <a:avLst>
                <a:gd name="adj" fmla="val 6397"/>
              </a:avLst>
            </a:prstGeom>
            <a:solidFill>
              <a:srgbClr val="0098FF">
                <a:alpha val="10000"/>
              </a:srgbClr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50" b="0" i="0">
                <a:latin typeface="Pfizer Diatype Office" panose="020B0504040202060203" pitchFamily="34" charset="77"/>
              </a:endParaRPr>
            </a:p>
          </p:txBody>
        </p:sp>
        <p:sp>
          <p:nvSpPr>
            <p:cNvPr id="48" name="Round Same Side Corner Rectangle 47">
              <a:extLst>
                <a:ext uri="{FF2B5EF4-FFF2-40B4-BE49-F238E27FC236}">
                  <a16:creationId xmlns:a16="http://schemas.microsoft.com/office/drawing/2014/main" id="{026A9F26-5A96-8514-034C-9440BDDC2BC7}"/>
                </a:ext>
              </a:extLst>
            </p:cNvPr>
            <p:cNvSpPr/>
            <p:nvPr/>
          </p:nvSpPr>
          <p:spPr>
            <a:xfrm>
              <a:off x="1212167" y="7796463"/>
              <a:ext cx="4197617" cy="923331"/>
            </a:xfrm>
            <a:prstGeom prst="round2SameRect">
              <a:avLst>
                <a:gd name="adj1" fmla="val 29698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50" b="0" i="0">
                <a:latin typeface="Pfizer Diatype Office" panose="020B0504040202060203" pitchFamily="34" charset="77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8C766ABA-CEC9-C4BC-CDDD-9E1AFA2A0E51}"/>
              </a:ext>
            </a:extLst>
          </p:cNvPr>
          <p:cNvGrpSpPr/>
          <p:nvPr userDrawn="1"/>
        </p:nvGrpSpPr>
        <p:grpSpPr>
          <a:xfrm>
            <a:off x="6185374" y="1501332"/>
            <a:ext cx="2610938" cy="4283242"/>
            <a:chOff x="1212167" y="7796463"/>
            <a:chExt cx="4206238" cy="8566483"/>
          </a:xfrm>
        </p:grpSpPr>
        <p:sp>
          <p:nvSpPr>
            <p:cNvPr id="50" name="Rounded Rectangle 49">
              <a:extLst>
                <a:ext uri="{FF2B5EF4-FFF2-40B4-BE49-F238E27FC236}">
                  <a16:creationId xmlns:a16="http://schemas.microsoft.com/office/drawing/2014/main" id="{1815AB79-9CB3-D383-8F2E-F9DB109DA656}"/>
                </a:ext>
              </a:extLst>
            </p:cNvPr>
            <p:cNvSpPr/>
            <p:nvPr/>
          </p:nvSpPr>
          <p:spPr>
            <a:xfrm>
              <a:off x="1220788" y="7796463"/>
              <a:ext cx="4197617" cy="8566483"/>
            </a:xfrm>
            <a:prstGeom prst="roundRect">
              <a:avLst>
                <a:gd name="adj" fmla="val 6397"/>
              </a:avLst>
            </a:prstGeom>
            <a:solidFill>
              <a:srgbClr val="0098FF">
                <a:alpha val="10000"/>
              </a:srgbClr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50" b="0" i="0">
                <a:latin typeface="Pfizer Diatype Office" panose="020B0504040202060203" pitchFamily="34" charset="77"/>
              </a:endParaRPr>
            </a:p>
          </p:txBody>
        </p:sp>
        <p:sp>
          <p:nvSpPr>
            <p:cNvPr id="51" name="Round Same Side Corner Rectangle 50">
              <a:extLst>
                <a:ext uri="{FF2B5EF4-FFF2-40B4-BE49-F238E27FC236}">
                  <a16:creationId xmlns:a16="http://schemas.microsoft.com/office/drawing/2014/main" id="{B9BB9445-6813-A364-DCCD-791AB835B0CF}"/>
                </a:ext>
              </a:extLst>
            </p:cNvPr>
            <p:cNvSpPr/>
            <p:nvPr/>
          </p:nvSpPr>
          <p:spPr>
            <a:xfrm>
              <a:off x="1212167" y="7796463"/>
              <a:ext cx="4197617" cy="923331"/>
            </a:xfrm>
            <a:prstGeom prst="round2SameRect">
              <a:avLst>
                <a:gd name="adj1" fmla="val 29698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50" b="0" i="0">
                <a:latin typeface="Pfizer Diatype Office" panose="020B0504040202060203" pitchFamily="34" charset="77"/>
              </a:endParaRP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85F3C1A-7708-80EA-5CDC-C808CA7F28F3}"/>
              </a:ext>
            </a:extLst>
          </p:cNvPr>
          <p:cNvGrpSpPr/>
          <p:nvPr userDrawn="1"/>
        </p:nvGrpSpPr>
        <p:grpSpPr>
          <a:xfrm>
            <a:off x="8975058" y="1501332"/>
            <a:ext cx="2610938" cy="4283242"/>
            <a:chOff x="1212167" y="7796463"/>
            <a:chExt cx="4206238" cy="8566483"/>
          </a:xfrm>
        </p:grpSpPr>
        <p:sp>
          <p:nvSpPr>
            <p:cNvPr id="53" name="Rounded Rectangle 52">
              <a:extLst>
                <a:ext uri="{FF2B5EF4-FFF2-40B4-BE49-F238E27FC236}">
                  <a16:creationId xmlns:a16="http://schemas.microsoft.com/office/drawing/2014/main" id="{5FA9E97B-27B7-329A-501B-99EE4B24897D}"/>
                </a:ext>
              </a:extLst>
            </p:cNvPr>
            <p:cNvSpPr/>
            <p:nvPr/>
          </p:nvSpPr>
          <p:spPr>
            <a:xfrm>
              <a:off x="1220788" y="7796463"/>
              <a:ext cx="4197617" cy="8566483"/>
            </a:xfrm>
            <a:prstGeom prst="roundRect">
              <a:avLst>
                <a:gd name="adj" fmla="val 6397"/>
              </a:avLst>
            </a:prstGeom>
            <a:solidFill>
              <a:srgbClr val="0098FF">
                <a:alpha val="9758"/>
              </a:srgbClr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50" b="0" i="0">
                <a:latin typeface="Pfizer Diatype Office" panose="020B0504040202060203" pitchFamily="34" charset="77"/>
              </a:endParaRPr>
            </a:p>
          </p:txBody>
        </p:sp>
        <p:sp>
          <p:nvSpPr>
            <p:cNvPr id="54" name="Round Same Side Corner Rectangle 53">
              <a:extLst>
                <a:ext uri="{FF2B5EF4-FFF2-40B4-BE49-F238E27FC236}">
                  <a16:creationId xmlns:a16="http://schemas.microsoft.com/office/drawing/2014/main" id="{B000B8D4-6A7C-FE5C-A320-BF8A9F427F8D}"/>
                </a:ext>
              </a:extLst>
            </p:cNvPr>
            <p:cNvSpPr/>
            <p:nvPr/>
          </p:nvSpPr>
          <p:spPr>
            <a:xfrm>
              <a:off x="1212167" y="7796463"/>
              <a:ext cx="4197617" cy="923331"/>
            </a:xfrm>
            <a:prstGeom prst="round2SameRect">
              <a:avLst>
                <a:gd name="adj1" fmla="val 29698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50" b="0" i="0">
                <a:latin typeface="Pfizer Diatype Office" panose="020B0504040202060203" pitchFamily="34" charset="77"/>
              </a:endParaRPr>
            </a:p>
          </p:txBody>
        </p:sp>
      </p:grpSp>
      <p:sp>
        <p:nvSpPr>
          <p:cNvPr id="55" name="Text Placeholder 10">
            <a:extLst>
              <a:ext uri="{FF2B5EF4-FFF2-40B4-BE49-F238E27FC236}">
                <a16:creationId xmlns:a16="http://schemas.microsoft.com/office/drawing/2014/main" id="{81ECAD81-857E-2F62-A2BA-A1EE679090F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517602" y="1618360"/>
            <a:ext cx="2352589" cy="2942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1" kern="1200" spc="-25" dirty="0">
                <a:solidFill>
                  <a:schemeClr val="bg1"/>
                </a:solidFill>
                <a:latin typeface="Pfizer Tomorrow" panose="02010503040201060303" pitchFamily="2" charset="77"/>
                <a:ea typeface="+mn-ea"/>
                <a:cs typeface="+mn-cs"/>
              </a:defRPr>
            </a:lvl1pPr>
            <a:lvl2pPr marL="457086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2pPr>
            <a:lvl3pPr marL="914171" indent="0">
              <a:buNone/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Headline</a:t>
            </a:r>
          </a:p>
        </p:txBody>
      </p:sp>
      <p:sp>
        <p:nvSpPr>
          <p:cNvPr id="56" name="Text Placeholder 10">
            <a:extLst>
              <a:ext uri="{FF2B5EF4-FFF2-40B4-BE49-F238E27FC236}">
                <a16:creationId xmlns:a16="http://schemas.microsoft.com/office/drawing/2014/main" id="{B5D203AC-D978-4604-3DEE-C856EAAC8D7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519359" y="2090391"/>
            <a:ext cx="2316205" cy="6155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0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>
              <a:defRPr lang="en-US" sz="10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2pPr>
            <a:lvl3pPr marL="914171" indent="0">
              <a:buNone/>
              <a:defRPr lang="en-US" sz="16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6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6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Body copy here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7" name="Text Placeholder 10">
            <a:extLst>
              <a:ext uri="{FF2B5EF4-FFF2-40B4-BE49-F238E27FC236}">
                <a16:creationId xmlns:a16="http://schemas.microsoft.com/office/drawing/2014/main" id="{FE519876-C4B1-98E2-A9E6-901B8CB649D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519359" y="4768276"/>
            <a:ext cx="2316205" cy="8618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0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>
              <a:defRPr lang="en-US" sz="10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2pPr>
            <a:lvl3pPr marL="914171" indent="0">
              <a:buNone/>
              <a:defRPr lang="en-US" sz="16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6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6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Body copy here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8" name="Text Placeholder 10">
            <a:extLst>
              <a:ext uri="{FF2B5EF4-FFF2-40B4-BE49-F238E27FC236}">
                <a16:creationId xmlns:a16="http://schemas.microsoft.com/office/drawing/2014/main" id="{86DA72B0-5C27-0F55-8A26-157851DD400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517602" y="2950772"/>
            <a:ext cx="2352589" cy="1846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200" b="0" i="0" kern="1200" spc="-25" dirty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 marL="457086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2pPr>
            <a:lvl3pPr marL="914171" indent="0">
              <a:buNone/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Headline</a:t>
            </a:r>
          </a:p>
        </p:txBody>
      </p:sp>
      <p:sp>
        <p:nvSpPr>
          <p:cNvPr id="59" name="Text Placeholder 10">
            <a:extLst>
              <a:ext uri="{FF2B5EF4-FFF2-40B4-BE49-F238E27FC236}">
                <a16:creationId xmlns:a16="http://schemas.microsoft.com/office/drawing/2014/main" id="{8C2D71FD-1091-668F-4A76-B8F25955916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17602" y="4557503"/>
            <a:ext cx="2352589" cy="1846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200" b="0" i="0" kern="1200" spc="-25" dirty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 marL="457086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2pPr>
            <a:lvl3pPr marL="914171" indent="0">
              <a:buNone/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Headline</a:t>
            </a:r>
          </a:p>
        </p:txBody>
      </p:sp>
      <p:sp>
        <p:nvSpPr>
          <p:cNvPr id="60" name="Text Placeholder 10">
            <a:extLst>
              <a:ext uri="{FF2B5EF4-FFF2-40B4-BE49-F238E27FC236}">
                <a16:creationId xmlns:a16="http://schemas.microsoft.com/office/drawing/2014/main" id="{795A53F9-6094-CCB3-8E07-414B962C336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312689" y="1618360"/>
            <a:ext cx="2352589" cy="2942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1" kern="1200" spc="-25" dirty="0">
                <a:solidFill>
                  <a:schemeClr val="bg1"/>
                </a:solidFill>
                <a:latin typeface="Pfizer Tomorrow" panose="02010503040201060303" pitchFamily="2" charset="77"/>
                <a:ea typeface="+mn-ea"/>
                <a:cs typeface="+mn-cs"/>
              </a:defRPr>
            </a:lvl1pPr>
            <a:lvl2pPr marL="457086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2pPr>
            <a:lvl3pPr marL="914171" indent="0">
              <a:buNone/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Headline</a:t>
            </a:r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B9E3FBCA-4B87-C5F6-BA05-5B029A433CE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314447" y="2090391"/>
            <a:ext cx="2316205" cy="6155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0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>
              <a:defRPr lang="en-US" sz="10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2pPr>
            <a:lvl3pPr marL="914171" indent="0">
              <a:buNone/>
              <a:defRPr lang="en-US" sz="16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6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6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Body copy here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2" name="Text Placeholder 10">
            <a:extLst>
              <a:ext uri="{FF2B5EF4-FFF2-40B4-BE49-F238E27FC236}">
                <a16:creationId xmlns:a16="http://schemas.microsoft.com/office/drawing/2014/main" id="{1716E3A6-30D7-5DFC-FD02-E4B5AEFBD25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314447" y="4768276"/>
            <a:ext cx="2316205" cy="8618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0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>
              <a:defRPr lang="en-US" sz="10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2pPr>
            <a:lvl3pPr marL="914171" indent="0">
              <a:buNone/>
              <a:defRPr lang="en-US" sz="16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6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6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Body copy here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3" name="Text Placeholder 10">
            <a:extLst>
              <a:ext uri="{FF2B5EF4-FFF2-40B4-BE49-F238E27FC236}">
                <a16:creationId xmlns:a16="http://schemas.microsoft.com/office/drawing/2014/main" id="{C06D32C4-FF1C-B3D5-F903-94779A7EBFD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12689" y="2950772"/>
            <a:ext cx="2352589" cy="1846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200" b="0" i="0" kern="1200" spc="-25" dirty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 marL="457086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2pPr>
            <a:lvl3pPr marL="914171" indent="0">
              <a:buNone/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Headline</a:t>
            </a:r>
          </a:p>
        </p:txBody>
      </p:sp>
      <p:sp>
        <p:nvSpPr>
          <p:cNvPr id="64" name="Text Placeholder 10">
            <a:extLst>
              <a:ext uri="{FF2B5EF4-FFF2-40B4-BE49-F238E27FC236}">
                <a16:creationId xmlns:a16="http://schemas.microsoft.com/office/drawing/2014/main" id="{24DBB815-2DA9-C8C5-E161-F69B973DA62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312689" y="4557503"/>
            <a:ext cx="2352589" cy="1846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200" b="0" i="0" kern="1200" spc="-25" dirty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 marL="457086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2pPr>
            <a:lvl3pPr marL="914171" indent="0">
              <a:buNone/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Headline</a:t>
            </a:r>
          </a:p>
        </p:txBody>
      </p:sp>
      <p:sp>
        <p:nvSpPr>
          <p:cNvPr id="65" name="Text Placeholder 10">
            <a:extLst>
              <a:ext uri="{FF2B5EF4-FFF2-40B4-BE49-F238E27FC236}">
                <a16:creationId xmlns:a16="http://schemas.microsoft.com/office/drawing/2014/main" id="{6B9F6B13-4A74-A9FD-F3AD-67D5F8182A9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107777" y="1618360"/>
            <a:ext cx="2352589" cy="2942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1" kern="1200" spc="-25" dirty="0">
                <a:solidFill>
                  <a:schemeClr val="bg1"/>
                </a:solidFill>
                <a:latin typeface="Pfizer Tomorrow" panose="02010503040201060303" pitchFamily="2" charset="77"/>
                <a:ea typeface="+mn-ea"/>
                <a:cs typeface="+mn-cs"/>
              </a:defRPr>
            </a:lvl1pPr>
            <a:lvl2pPr marL="457086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2pPr>
            <a:lvl3pPr marL="914171" indent="0">
              <a:buNone/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Headline</a:t>
            </a:r>
          </a:p>
        </p:txBody>
      </p:sp>
      <p:sp>
        <p:nvSpPr>
          <p:cNvPr id="66" name="Text Placeholder 10">
            <a:extLst>
              <a:ext uri="{FF2B5EF4-FFF2-40B4-BE49-F238E27FC236}">
                <a16:creationId xmlns:a16="http://schemas.microsoft.com/office/drawing/2014/main" id="{E43DC601-AE83-64B7-D8AA-661D0D55704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109535" y="2090391"/>
            <a:ext cx="2316205" cy="6155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0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>
              <a:defRPr lang="en-US" sz="10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2pPr>
            <a:lvl3pPr marL="914171" indent="0">
              <a:buNone/>
              <a:defRPr lang="en-US" sz="16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6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6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Body copy here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7" name="Text Placeholder 10">
            <a:extLst>
              <a:ext uri="{FF2B5EF4-FFF2-40B4-BE49-F238E27FC236}">
                <a16:creationId xmlns:a16="http://schemas.microsoft.com/office/drawing/2014/main" id="{84947D06-DCEA-B540-0619-C0411B9B286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109535" y="4768276"/>
            <a:ext cx="2316205" cy="8618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0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>
              <a:defRPr lang="en-US" sz="10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2pPr>
            <a:lvl3pPr marL="914171" indent="0">
              <a:buNone/>
              <a:defRPr lang="en-US" sz="16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6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6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Body copy here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8" name="Text Placeholder 10">
            <a:extLst>
              <a:ext uri="{FF2B5EF4-FFF2-40B4-BE49-F238E27FC236}">
                <a16:creationId xmlns:a16="http://schemas.microsoft.com/office/drawing/2014/main" id="{A49C126B-131E-C695-E276-9D9621C2B4E1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107777" y="2950772"/>
            <a:ext cx="2352589" cy="1846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200" b="0" i="0" kern="1200" spc="-25" dirty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 marL="457086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2pPr>
            <a:lvl3pPr marL="914171" indent="0">
              <a:buNone/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Headline</a:t>
            </a:r>
          </a:p>
        </p:txBody>
      </p:sp>
      <p:sp>
        <p:nvSpPr>
          <p:cNvPr id="69" name="Text Placeholder 10">
            <a:extLst>
              <a:ext uri="{FF2B5EF4-FFF2-40B4-BE49-F238E27FC236}">
                <a16:creationId xmlns:a16="http://schemas.microsoft.com/office/drawing/2014/main" id="{7D858769-95FE-4DDD-0D9F-AB83295A09F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107777" y="4557503"/>
            <a:ext cx="2352589" cy="1846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200" b="0" i="0" kern="1200" spc="-25" dirty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 marL="457086" indent="0">
              <a:buNone/>
              <a:defRPr lang="en-US" sz="18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n-ea"/>
                <a:cs typeface="+mn-cs"/>
              </a:defRPr>
            </a:lvl2pPr>
            <a:lvl3pPr marL="914171" indent="0">
              <a:buNone/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19427357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25FC85B-94AC-C0CA-227D-7671ABF2928E}"/>
              </a:ext>
            </a:extLst>
          </p:cNvPr>
          <p:cNvSpPr/>
          <p:nvPr userDrawn="1"/>
        </p:nvSpPr>
        <p:spPr>
          <a:xfrm>
            <a:off x="6095346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fizer Diatype Office" panose="020B0504040202060203" pitchFamily="34" charset="77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0C7DBDB-BBBB-21C0-B73D-C920994B69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B39012A-6F33-204B-8224-A57BEFB0AAD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04F2F1C8-07E9-7744-94F4-0AF143FABD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9247" y="2098060"/>
            <a:ext cx="3427224" cy="37274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>
              <a:defRPr lang="en-US" sz="18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2pPr>
            <a:lvl3pPr>
              <a:defRPr lang="en-US" sz="18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3pPr>
            <a:lvl4pPr>
              <a:defRPr lang="en-US" sz="1800" b="0" i="0" kern="1200" spc="-50" dirty="0" smtClean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4pPr>
            <a:lvl5pPr>
              <a:defRPr lang="en-US" sz="1800" b="0" i="0" kern="1200" spc="-50" dirty="0">
                <a:solidFill>
                  <a:srgbClr val="02005E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Body copy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BCBF1253-EDE9-CCBE-CC1E-BBACF7AAF9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08542" y="515342"/>
            <a:ext cx="5103062" cy="677109"/>
          </a:xfrm>
          <a:prstGeom prst="rect">
            <a:avLst/>
          </a:prstGeom>
        </p:spPr>
        <p:txBody>
          <a:bodyPr/>
          <a:lstStyle>
            <a:lvl1pPr marL="0" indent="0" algn="l" defTabSz="45708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399" kern="1200" spc="-25" dirty="0">
                <a:solidFill>
                  <a:schemeClr val="bg1"/>
                </a:solidFill>
                <a:latin typeface="Pfizer Tomorrow" panose="02010503040201060303" pitchFamily="2" charset="77"/>
                <a:ea typeface="+mj-ea"/>
                <a:cs typeface="+mj-cs"/>
              </a:defRPr>
            </a:lvl1pPr>
            <a:lvl2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2pPr>
            <a:lvl3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01 Key Point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338B02E5-6686-6077-72D8-974AD75A437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08542" y="3068971"/>
            <a:ext cx="5103062" cy="677109"/>
          </a:xfrm>
          <a:prstGeom prst="rect">
            <a:avLst/>
          </a:prstGeom>
        </p:spPr>
        <p:txBody>
          <a:bodyPr/>
          <a:lstStyle>
            <a:lvl1pPr marL="0" indent="0" algn="l" defTabSz="45708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399" kern="1200" spc="-25" dirty="0">
                <a:solidFill>
                  <a:schemeClr val="bg1"/>
                </a:solidFill>
                <a:latin typeface="Pfizer Tomorrow" panose="02010503040201060303" pitchFamily="2" charset="77"/>
                <a:ea typeface="+mj-ea"/>
                <a:cs typeface="+mj-cs"/>
              </a:defRPr>
            </a:lvl1pPr>
            <a:lvl2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2pPr>
            <a:lvl3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3pPr>
            <a:lvl4pPr>
              <a:defRPr lang="en-US" sz="1800" kern="1200" spc="-50" dirty="0" smtClean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4pPr>
            <a:lvl5pPr>
              <a:defRPr lang="en-US" sz="1800" kern="1200" spc="-50" dirty="0">
                <a:solidFill>
                  <a:srgbClr val="02005E"/>
                </a:solidFill>
                <a:latin typeface="Pfizer Diatyp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02 Key Point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0C34BD04-1866-F729-AA57-40BC049132F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67823" y="1328625"/>
            <a:ext cx="5054931" cy="149717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spc="-50" dirty="0" smtClean="0">
                <a:solidFill>
                  <a:schemeClr val="bg1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>
              <a:defRPr lang="en-US" sz="1800" b="0" i="0" kern="1200" spc="-50" dirty="0" smtClean="0">
                <a:solidFill>
                  <a:schemeClr val="bg1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2pPr>
            <a:lvl3pPr>
              <a:defRPr lang="en-US" sz="1800" b="0" i="0" kern="1200" spc="-50" dirty="0" smtClean="0">
                <a:solidFill>
                  <a:schemeClr val="bg1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3pPr>
            <a:lvl4pPr>
              <a:defRPr lang="en-US" sz="1800" b="0" i="0" kern="1200" spc="-50" dirty="0" smtClean="0">
                <a:solidFill>
                  <a:schemeClr val="bg1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4pPr>
            <a:lvl5pPr>
              <a:defRPr lang="en-US" sz="1800" b="0" i="0" kern="1200" spc="-50" dirty="0">
                <a:solidFill>
                  <a:schemeClr val="bg1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Body copy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83F46805-66E5-C16F-2EF7-3E369760588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67823" y="3882255"/>
            <a:ext cx="5054931" cy="149717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spc="-50" dirty="0" smtClean="0">
                <a:solidFill>
                  <a:schemeClr val="bg1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1pPr>
            <a:lvl2pPr>
              <a:defRPr lang="en-US" sz="1800" b="0" i="0" kern="1200" spc="-50" dirty="0" smtClean="0">
                <a:solidFill>
                  <a:schemeClr val="bg1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2pPr>
            <a:lvl3pPr>
              <a:defRPr lang="en-US" sz="1800" b="0" i="0" kern="1200" spc="-50" dirty="0" smtClean="0">
                <a:solidFill>
                  <a:schemeClr val="bg1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3pPr>
            <a:lvl4pPr>
              <a:defRPr lang="en-US" sz="1800" b="0" i="0" kern="1200" spc="-50" dirty="0" smtClean="0">
                <a:solidFill>
                  <a:schemeClr val="bg1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4pPr>
            <a:lvl5pPr>
              <a:defRPr lang="en-US" sz="1800" b="0" i="0" kern="1200" spc="-50" dirty="0">
                <a:solidFill>
                  <a:schemeClr val="bg1"/>
                </a:solidFill>
                <a:latin typeface="Pfizer Diatype Office" panose="020B050404020206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Body copy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itle 6">
            <a:extLst>
              <a:ext uri="{FF2B5EF4-FFF2-40B4-BE49-F238E27FC236}">
                <a16:creationId xmlns:a16="http://schemas.microsoft.com/office/drawing/2014/main" id="{C68B568E-9CE8-D887-3682-5FCC1781C1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397" y="615426"/>
            <a:ext cx="3154776" cy="405454"/>
          </a:xfrm>
          <a:prstGeom prst="rect">
            <a:avLst/>
          </a:prstGeom>
        </p:spPr>
        <p:txBody>
          <a:bodyPr/>
          <a:lstStyle>
            <a:lvl1pPr>
              <a:defRPr lang="en-US" sz="4799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Headline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DB706D-1516-EF71-78E8-71FEC3CA98C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884349" y="6519446"/>
            <a:ext cx="2357610" cy="20005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 rtl="0"/>
            <a:r>
              <a:rPr lang="en-US" sz="700" b="1" i="0" kern="1200">
                <a:solidFill>
                  <a:schemeClr val="bg1"/>
                </a:solidFill>
                <a:latin typeface="Pfizer Diatype Office" panose="020B0504040202060203" pitchFamily="34" charset="77"/>
                <a:ea typeface="+mn-ea"/>
                <a:cs typeface="+mn-cs"/>
              </a:rPr>
              <a:t>Pfizer 2026 |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2274139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C2C46F47-4586-D311-FFD2-FCCA5D0D98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38834" y="6515101"/>
            <a:ext cx="1143536" cy="153889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700" b="1" i="0">
                <a:solidFill>
                  <a:schemeClr val="accent1"/>
                </a:solidFill>
                <a:latin typeface="Pfizer Diatype Office" panose="020B0504040202060203" pitchFamily="34" charset="77"/>
              </a:defRPr>
            </a:lvl1pPr>
          </a:lstStyle>
          <a:p>
            <a:fld id="{2B39012A-6F33-204B-8224-A57BEFB0AAD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5EAE86-BF0C-FAE6-D855-7CB57A1B2C07}"/>
              </a:ext>
            </a:extLst>
          </p:cNvPr>
          <p:cNvSpPr txBox="1"/>
          <p:nvPr userDrawn="1"/>
        </p:nvSpPr>
        <p:spPr>
          <a:xfrm>
            <a:off x="8884349" y="6519446"/>
            <a:ext cx="2357610" cy="20005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 rtl="0"/>
            <a:r>
              <a:rPr lang="en-US" sz="700" b="1" i="0" kern="1200">
                <a:solidFill>
                  <a:schemeClr val="bg1">
                    <a:lumMod val="50000"/>
                  </a:schemeClr>
                </a:solidFill>
                <a:latin typeface="Pfizer Diatype Office" panose="020B0504040202060203" pitchFamily="34" charset="77"/>
                <a:ea typeface="+mn-ea"/>
                <a:cs typeface="+mn-cs"/>
              </a:rPr>
              <a:t>Pfizer 2026 | Confidential and Proprietary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24290B-1340-57B8-7497-9311B3A0F3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2281" y="6409856"/>
            <a:ext cx="723405" cy="29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1848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Empty">
    <p:bg>
      <p:bgPr>
        <a:solidFill>
          <a:srgbClr val="0000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0767AC89-BC07-4D7A-A9B9-9BDA7EE630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38834" y="6515101"/>
            <a:ext cx="1143536" cy="153889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700" b="1" i="0">
                <a:solidFill>
                  <a:schemeClr val="bg1"/>
                </a:solidFill>
                <a:latin typeface="Pfizer Diatype Office" panose="020B0504040202060203" pitchFamily="34" charset="77"/>
              </a:defRPr>
            </a:lvl1pPr>
          </a:lstStyle>
          <a:p>
            <a:fld id="{2B39012A-6F33-204B-8224-A57BEFB0AAD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4920FD-1CE1-81BB-415E-E5CCF9FC701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884349" y="6519446"/>
            <a:ext cx="2357610" cy="20005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 rtl="0"/>
            <a:r>
              <a:rPr lang="en-US" sz="700" b="1" i="0" kern="1200">
                <a:solidFill>
                  <a:schemeClr val="bg1"/>
                </a:solidFill>
                <a:latin typeface="Pfizer Diatype Office" panose="020B0504040202060203" pitchFamily="34" charset="77"/>
                <a:ea typeface="+mn-ea"/>
                <a:cs typeface="+mn-cs"/>
              </a:rPr>
              <a:t>Pfizer 2026 | Confidential and Proprietary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062212-E884-9B74-4B71-40C5BC43EC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2280" y="6408420"/>
            <a:ext cx="728130" cy="297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3453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4A457A2E-6AEE-943E-26A4-1C087EE7FC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397" y="615426"/>
            <a:ext cx="3154776" cy="405454"/>
          </a:xfrm>
          <a:prstGeom prst="rect">
            <a:avLst/>
          </a:prstGeom>
        </p:spPr>
        <p:txBody>
          <a:bodyPr/>
          <a:lstStyle>
            <a:lvl1pPr>
              <a:defRPr lang="en-US" sz="2699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Headline Here</a:t>
            </a:r>
          </a:p>
        </p:txBody>
      </p:sp>
      <p:sp>
        <p:nvSpPr>
          <p:cNvPr id="2" name="Slide Number Placeholder 9">
            <a:extLst>
              <a:ext uri="{FF2B5EF4-FFF2-40B4-BE49-F238E27FC236}">
                <a16:creationId xmlns:a16="http://schemas.microsoft.com/office/drawing/2014/main" id="{E245BBAD-AB6E-E7FD-3A14-ADC70AB0CA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38834" y="6515101"/>
            <a:ext cx="1143536" cy="153889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700" b="1" i="0">
                <a:solidFill>
                  <a:schemeClr val="accent1"/>
                </a:solidFill>
                <a:latin typeface="Pfizer Diatype Office" panose="020B0504040202060203" pitchFamily="34" charset="77"/>
              </a:defRPr>
            </a:lvl1pPr>
          </a:lstStyle>
          <a:p>
            <a:fld id="{2B39012A-6F33-204B-8224-A57BEFB0AAD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888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">
    <p:bg>
      <p:bgPr>
        <a:solidFill>
          <a:srgbClr val="0000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59CEECE-9450-A860-A620-EA87CB0DC2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2280" y="6408420"/>
            <a:ext cx="728130" cy="297180"/>
          </a:xfrm>
          <a:prstGeom prst="rect">
            <a:avLst/>
          </a:prstGeom>
        </p:spPr>
      </p:pic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44B37D82-0C17-42EF-4ABD-F689ABD91D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38834" y="6515101"/>
            <a:ext cx="1143536" cy="153889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700" b="1" i="0">
                <a:solidFill>
                  <a:schemeClr val="bg1"/>
                </a:solidFill>
                <a:latin typeface="Pfizer Diatype Office" panose="020B0504040202060203" pitchFamily="34" charset="77"/>
              </a:defRPr>
            </a:lvl1pPr>
          </a:lstStyle>
          <a:p>
            <a:fld id="{2B39012A-6F33-204B-8224-A57BEFB0AAD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D41377-A028-5077-A9FB-EB9C3726902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884349" y="6519446"/>
            <a:ext cx="2357610" cy="20005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 rtl="0"/>
            <a:r>
              <a:rPr lang="en-US" sz="700" b="1" i="0" kern="1200">
                <a:solidFill>
                  <a:schemeClr val="bg1"/>
                </a:solidFill>
                <a:latin typeface="Pfizer Diatype Office" panose="020B0504040202060203" pitchFamily="34" charset="77"/>
                <a:ea typeface="+mn-ea"/>
                <a:cs typeface="+mn-cs"/>
              </a:rPr>
              <a:t>Pfizer 2026 | Confidential and Proprietary</a:t>
            </a: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B6F2EFA6-AB13-57AA-B12B-629DC52F91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397" y="615426"/>
            <a:ext cx="3154776" cy="405454"/>
          </a:xfrm>
          <a:prstGeom prst="rect">
            <a:avLst/>
          </a:prstGeom>
        </p:spPr>
        <p:txBody>
          <a:bodyPr/>
          <a:lstStyle>
            <a:lvl1pPr>
              <a:defRPr lang="en-US" sz="2699" b="1" kern="1200" spc="-25" dirty="0">
                <a:solidFill>
                  <a:schemeClr val="bg1"/>
                </a:solidFill>
                <a:latin typeface="Pfizer Tomorrow" panose="02010503040201060303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Headline Here</a:t>
            </a:r>
          </a:p>
        </p:txBody>
      </p:sp>
    </p:spTree>
    <p:extLst>
      <p:ext uri="{BB962C8B-B14F-4D97-AF65-F5344CB8AC3E}">
        <p14:creationId xmlns:p14="http://schemas.microsoft.com/office/powerpoint/2010/main" val="38743974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">
    <p:bg>
      <p:bgPr>
        <a:solidFill>
          <a:srgbClr val="BDE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14D3EBDC-CB2A-F622-4077-6A130AA719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397" y="615426"/>
            <a:ext cx="3154776" cy="405454"/>
          </a:xfrm>
          <a:prstGeom prst="rect">
            <a:avLst/>
          </a:prstGeom>
        </p:spPr>
        <p:txBody>
          <a:bodyPr/>
          <a:lstStyle>
            <a:lvl1pPr>
              <a:defRPr lang="en-US" sz="2699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Headline Here</a:t>
            </a:r>
          </a:p>
        </p:txBody>
      </p: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99E52991-A643-D2D2-2231-1935177D74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38834" y="6515101"/>
            <a:ext cx="1143536" cy="153889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700" b="1" i="0">
                <a:solidFill>
                  <a:schemeClr val="accent1"/>
                </a:solidFill>
                <a:latin typeface="Pfizer Diatype Office" panose="020B0504040202060203" pitchFamily="34" charset="77"/>
              </a:defRPr>
            </a:lvl1pPr>
          </a:lstStyle>
          <a:p>
            <a:fld id="{2B39012A-6F33-204B-8224-A57BEFB0AAD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4466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25FC85B-94AC-C0CA-227D-7671ABF2928E}"/>
              </a:ext>
            </a:extLst>
          </p:cNvPr>
          <p:cNvSpPr/>
          <p:nvPr userDrawn="1"/>
        </p:nvSpPr>
        <p:spPr>
          <a:xfrm>
            <a:off x="6095346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fizer Diatype Office" panose="020B0504040202060203" pitchFamily="34" charset="77"/>
            </a:endParaRPr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CB07BB3A-6067-24D9-AAF7-811F8AF4F8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397" y="615426"/>
            <a:ext cx="3154776" cy="405454"/>
          </a:xfrm>
          <a:prstGeom prst="rect">
            <a:avLst/>
          </a:prstGeom>
        </p:spPr>
        <p:txBody>
          <a:bodyPr/>
          <a:lstStyle>
            <a:lvl1pPr>
              <a:defRPr lang="en-US" sz="2699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Headline Here</a:t>
            </a:r>
          </a:p>
        </p:txBody>
      </p: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2E92ECA5-B4C5-11AB-D3FF-B117A2EB56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38834" y="6515101"/>
            <a:ext cx="1143536" cy="153889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700" b="1" i="0">
                <a:solidFill>
                  <a:schemeClr val="bg1"/>
                </a:solidFill>
                <a:latin typeface="Pfizer Diatype Office" panose="020B0504040202060203" pitchFamily="34" charset="77"/>
              </a:defRPr>
            </a:lvl1pPr>
          </a:lstStyle>
          <a:p>
            <a:fld id="{2B39012A-6F33-204B-8224-A57BEFB0AAD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E7E61E-0B5E-3295-7C2B-9172A1B2C18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884349" y="6519446"/>
            <a:ext cx="2357610" cy="20005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 rtl="0"/>
            <a:r>
              <a:rPr lang="en-US" sz="700" b="1" i="0" kern="1200">
                <a:solidFill>
                  <a:schemeClr val="bg1"/>
                </a:solidFill>
                <a:latin typeface="Pfizer Diatype Office" panose="020B0504040202060203" pitchFamily="34" charset="77"/>
                <a:ea typeface="+mn-ea"/>
                <a:cs typeface="+mn-cs"/>
              </a:rPr>
              <a:t>Pfizer 2026 |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2815700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Cyan">
    <p:bg>
      <p:bgPr>
        <a:solidFill>
          <a:srgbClr val="E6F5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F0F2420B-BC03-F4AA-0FB4-8751258F63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397" y="615426"/>
            <a:ext cx="3154776" cy="405454"/>
          </a:xfrm>
          <a:prstGeom prst="rect">
            <a:avLst/>
          </a:prstGeom>
        </p:spPr>
        <p:txBody>
          <a:bodyPr/>
          <a:lstStyle>
            <a:lvl1pPr>
              <a:defRPr lang="en-US" sz="2699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Headline Here</a:t>
            </a:r>
          </a:p>
        </p:txBody>
      </p: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CEDEA8BC-36A6-C8A5-88AA-8D181557E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38834" y="6515101"/>
            <a:ext cx="1143536" cy="153889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700" b="1" i="0">
                <a:solidFill>
                  <a:schemeClr val="accent1"/>
                </a:solidFill>
                <a:latin typeface="Pfizer Diatype Office" panose="020B0504040202060203" pitchFamily="34" charset="77"/>
              </a:defRPr>
            </a:lvl1pPr>
          </a:lstStyle>
          <a:p>
            <a:fld id="{2B39012A-6F33-204B-8224-A57BEFB0AAD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4529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ue">
    <p:bg>
      <p:bgPr>
        <a:solidFill>
          <a:schemeClr val="accent3">
            <a:alpha val="9889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0E685C2D-A743-49E3-2FFC-9B148BDB9C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397" y="615426"/>
            <a:ext cx="3154776" cy="405454"/>
          </a:xfrm>
          <a:prstGeom prst="rect">
            <a:avLst/>
          </a:prstGeom>
        </p:spPr>
        <p:txBody>
          <a:bodyPr/>
          <a:lstStyle>
            <a:lvl1pPr>
              <a:defRPr lang="en-US" sz="2699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Headline Here</a:t>
            </a:r>
          </a:p>
        </p:txBody>
      </p: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B3036EDA-E525-0B88-DB95-44E7A4B32A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38834" y="6515101"/>
            <a:ext cx="1143536" cy="153889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700" b="1" i="0">
                <a:solidFill>
                  <a:schemeClr val="accent1"/>
                </a:solidFill>
                <a:latin typeface="Pfizer Diatype Office" panose="020B0504040202060203" pitchFamily="34" charset="77"/>
              </a:defRPr>
            </a:lvl1pPr>
          </a:lstStyle>
          <a:p>
            <a:fld id="{2B39012A-6F33-204B-8224-A57BEFB0AAD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4552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ue Contai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E91C0DC-D42D-5F9D-E977-4A2F7CFAA339}"/>
              </a:ext>
            </a:extLst>
          </p:cNvPr>
          <p:cNvSpPr/>
          <p:nvPr userDrawn="1"/>
        </p:nvSpPr>
        <p:spPr>
          <a:xfrm>
            <a:off x="610316" y="1620685"/>
            <a:ext cx="10967061" cy="4572000"/>
          </a:xfrm>
          <a:prstGeom prst="rect">
            <a:avLst/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fizer Diatype Office" panose="020B0504040202060203" pitchFamily="34" charset="77"/>
            </a:endParaRPr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B70A86CB-2EBE-B1D8-A473-B4C35C32D1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397" y="615426"/>
            <a:ext cx="3154776" cy="405454"/>
          </a:xfrm>
          <a:prstGeom prst="rect">
            <a:avLst/>
          </a:prstGeom>
        </p:spPr>
        <p:txBody>
          <a:bodyPr/>
          <a:lstStyle>
            <a:lvl1pPr>
              <a:defRPr lang="en-US" sz="2699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Headline Here</a:t>
            </a:r>
          </a:p>
        </p:txBody>
      </p: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B9E454CA-CBB2-48FA-A742-CBFF0A7DDE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38834" y="6515101"/>
            <a:ext cx="1143536" cy="153889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700" b="1" i="0">
                <a:solidFill>
                  <a:schemeClr val="accent1"/>
                </a:solidFill>
                <a:latin typeface="Pfizer Diatype Office" panose="020B0504040202060203" pitchFamily="34" charset="77"/>
              </a:defRPr>
            </a:lvl1pPr>
          </a:lstStyle>
          <a:p>
            <a:fld id="{2B39012A-6F33-204B-8224-A57BEFB0AAD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52178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Container">
    <p:bg>
      <p:bgPr>
        <a:solidFill>
          <a:schemeClr val="accent3">
            <a:alpha val="20161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B4406B9-3701-B09A-7AFD-D4182E15E69E}"/>
              </a:ext>
            </a:extLst>
          </p:cNvPr>
          <p:cNvSpPr/>
          <p:nvPr userDrawn="1"/>
        </p:nvSpPr>
        <p:spPr>
          <a:xfrm>
            <a:off x="610316" y="1600200"/>
            <a:ext cx="10967061" cy="45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fizer Diatype Office" panose="020B0504040202060203" pitchFamily="34" charset="77"/>
            </a:endParaRPr>
          </a:p>
        </p:txBody>
      </p: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D86FB8DA-640D-32A7-5933-B7F08052FA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38834" y="6515101"/>
            <a:ext cx="1143536" cy="153889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700" b="1" i="0">
                <a:solidFill>
                  <a:schemeClr val="accent1"/>
                </a:solidFill>
                <a:latin typeface="Pfizer Diatype Office" panose="020B0504040202060203" pitchFamily="34" charset="77"/>
              </a:defRPr>
            </a:lvl1pPr>
          </a:lstStyle>
          <a:p>
            <a:fld id="{2B39012A-6F33-204B-8224-A57BEFB0AAD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BFC956DE-0527-7698-B230-4E1939F44E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397" y="615426"/>
            <a:ext cx="3154776" cy="405454"/>
          </a:xfrm>
          <a:prstGeom prst="rect">
            <a:avLst/>
          </a:prstGeom>
        </p:spPr>
        <p:txBody>
          <a:bodyPr/>
          <a:lstStyle>
            <a:lvl1pPr>
              <a:defRPr lang="en-US" sz="2699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Headline Here</a:t>
            </a:r>
          </a:p>
        </p:txBody>
      </p:sp>
    </p:spTree>
    <p:extLst>
      <p:ext uri="{BB962C8B-B14F-4D97-AF65-F5344CB8AC3E}">
        <p14:creationId xmlns:p14="http://schemas.microsoft.com/office/powerpoint/2010/main" val="170594505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it Screen">
    <p:bg>
      <p:bgPr>
        <a:solidFill>
          <a:srgbClr val="0000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DBE142A-FE90-87CE-D452-9E169568D348}"/>
              </a:ext>
            </a:extLst>
          </p:cNvPr>
          <p:cNvSpPr/>
          <p:nvPr userDrawn="1"/>
        </p:nvSpPr>
        <p:spPr>
          <a:xfrm>
            <a:off x="4267438" y="0"/>
            <a:ext cx="7923909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fizer Diatype Office" panose="020B0504040202060203" pitchFamily="34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0D291D-1DD4-B95E-6D2C-14C5A533DF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2280" y="6408420"/>
            <a:ext cx="728130" cy="297180"/>
          </a:xfrm>
          <a:prstGeom prst="rect">
            <a:avLst/>
          </a:prstGeom>
        </p:spPr>
      </p:pic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E67B3876-89D1-5568-D85E-B9B58AA4D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38834" y="6515101"/>
            <a:ext cx="1143536" cy="153889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700" b="1" i="0">
                <a:solidFill>
                  <a:schemeClr val="accent1"/>
                </a:solidFill>
                <a:latin typeface="Pfizer Diatype Office" panose="020B0504040202060203" pitchFamily="34" charset="77"/>
              </a:defRPr>
            </a:lvl1pPr>
          </a:lstStyle>
          <a:p>
            <a:fld id="{2B39012A-6F33-204B-8224-A57BEFB0AAD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A9EA49-9EBE-4051-D8CA-EE8F12A298A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884349" y="6519446"/>
            <a:ext cx="2357610" cy="20005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 rtl="0"/>
            <a:r>
              <a:rPr lang="en-US" sz="700" b="1" i="0" kern="1200">
                <a:solidFill>
                  <a:schemeClr val="bg1">
                    <a:lumMod val="50000"/>
                  </a:schemeClr>
                </a:solidFill>
                <a:latin typeface="Pfizer Diatype Office" panose="020B0504040202060203" pitchFamily="34" charset="77"/>
                <a:ea typeface="+mn-ea"/>
                <a:cs typeface="+mn-cs"/>
              </a:rPr>
              <a:t>Pfizer 2026 |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15646648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Light Blue">
    <p:bg>
      <p:bgPr>
        <a:solidFill>
          <a:srgbClr val="BDE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7B24C56-920F-2B18-DB34-7C7F9032B7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B39012A-6F33-204B-8224-A57BEFB0AAD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6">
            <a:extLst>
              <a:ext uri="{FF2B5EF4-FFF2-40B4-BE49-F238E27FC236}">
                <a16:creationId xmlns:a16="http://schemas.microsoft.com/office/drawing/2014/main" id="{489E405B-0B26-17CF-37C3-F54FFF4BE8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0384" y="615426"/>
            <a:ext cx="9186800" cy="3811609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 lang="en-US" sz="7200" b="1" kern="1200" spc="-25" dirty="0">
                <a:solidFill>
                  <a:schemeClr val="accent1"/>
                </a:solidFill>
                <a:latin typeface="Pfizer Tomorrow" panose="02010503040201060303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103299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.emf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C11AAD1-13AF-CDCD-0D2C-4EC08C52BA79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2281" y="6409856"/>
            <a:ext cx="723405" cy="295745"/>
          </a:xfrm>
          <a:prstGeom prst="rect">
            <a:avLst/>
          </a:prstGeom>
        </p:spPr>
      </p:pic>
      <p:sp>
        <p:nvSpPr>
          <p:cNvPr id="16" name="Slide Number Placeholder 9">
            <a:extLst>
              <a:ext uri="{FF2B5EF4-FFF2-40B4-BE49-F238E27FC236}">
                <a16:creationId xmlns:a16="http://schemas.microsoft.com/office/drawing/2014/main" id="{111582FF-352D-3C9E-EBF3-7F589EFBB6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38834" y="6515101"/>
            <a:ext cx="1143536" cy="153889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700" b="1" i="0">
                <a:solidFill>
                  <a:schemeClr val="accent1"/>
                </a:solidFill>
                <a:latin typeface="Pfizer Diatype Office" panose="020B0504040202060203" pitchFamily="34" charset="77"/>
              </a:defRPr>
            </a:lvl1pPr>
          </a:lstStyle>
          <a:p>
            <a:fld id="{788520C2-D1D1-475E-B245-D55348233300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FA294A-CB44-A564-BA09-EB2D1777A6A2}"/>
              </a:ext>
            </a:extLst>
          </p:cNvPr>
          <p:cNvSpPr txBox="1"/>
          <p:nvPr/>
        </p:nvSpPr>
        <p:spPr>
          <a:xfrm>
            <a:off x="8884349" y="6519446"/>
            <a:ext cx="2357610" cy="20005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 rtl="0"/>
            <a:r>
              <a:rPr lang="en-US" sz="700" b="1" i="0" kern="1200">
                <a:solidFill>
                  <a:schemeClr val="bg1">
                    <a:lumMod val="50000"/>
                  </a:schemeClr>
                </a:solidFill>
                <a:latin typeface="Pfizer Diatype Office" panose="020B0504040202060203" pitchFamily="34" charset="77"/>
                <a:ea typeface="+mn-ea"/>
                <a:cs typeface="+mn-cs"/>
              </a:rPr>
              <a:t>Pfizer 2026 |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242741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l" defTabSz="914171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43" indent="-228543" algn="l" defTabSz="91417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629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14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800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886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971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57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42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29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6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1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7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29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14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600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85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888">
          <p15:clr>
            <a:srgbClr val="F26B43"/>
          </p15:clr>
        </p15:guide>
        <p15:guide id="2" pos="384">
          <p15:clr>
            <a:srgbClr val="F26B43"/>
          </p15:clr>
        </p15:guide>
        <p15:guide id="3" pos="7296">
          <p15:clr>
            <a:srgbClr val="F26B43"/>
          </p15:clr>
        </p15:guide>
        <p15:guide id="4" orient="horz" pos="432">
          <p15:clr>
            <a:srgbClr val="F26B43"/>
          </p15:clr>
        </p15:guide>
        <p15:guide id="5" orient="horz" pos="4176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C11AAD1-13AF-CDCD-0D2C-4EC08C52BA79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2281" y="6409856"/>
            <a:ext cx="723405" cy="295745"/>
          </a:xfrm>
          <a:prstGeom prst="rect">
            <a:avLst/>
          </a:prstGeom>
        </p:spPr>
      </p:pic>
      <p:sp>
        <p:nvSpPr>
          <p:cNvPr id="16" name="Slide Number Placeholder 9">
            <a:extLst>
              <a:ext uri="{FF2B5EF4-FFF2-40B4-BE49-F238E27FC236}">
                <a16:creationId xmlns:a16="http://schemas.microsoft.com/office/drawing/2014/main" id="{111582FF-352D-3C9E-EBF3-7F589EFBB6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38834" y="6515101"/>
            <a:ext cx="1143536" cy="153889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700" b="1" i="0">
                <a:solidFill>
                  <a:schemeClr val="accent1"/>
                </a:solidFill>
                <a:latin typeface="Pfizer Diatype Office" panose="020B0504040202060203" pitchFamily="34" charset="77"/>
              </a:defRPr>
            </a:lvl1pPr>
          </a:lstStyle>
          <a:p>
            <a:fld id="{2B39012A-6F33-204B-8224-A57BEFB0AAD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CCDD5D-F815-DD6B-DA8F-7F1CD2F3E668}"/>
              </a:ext>
            </a:extLst>
          </p:cNvPr>
          <p:cNvSpPr txBox="1"/>
          <p:nvPr/>
        </p:nvSpPr>
        <p:spPr>
          <a:xfrm>
            <a:off x="8884349" y="6519446"/>
            <a:ext cx="2357610" cy="20005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 rtl="0"/>
            <a:r>
              <a:rPr lang="en-US" sz="700" b="1" i="0" kern="1200" dirty="0">
                <a:solidFill>
                  <a:schemeClr val="bg1">
                    <a:lumMod val="50000"/>
                  </a:schemeClr>
                </a:solidFill>
                <a:latin typeface="Pfizer Diatype Office" panose="020B0504040202060203" pitchFamily="34" charset="77"/>
                <a:ea typeface="+mn-ea"/>
                <a:cs typeface="+mn-cs"/>
              </a:rPr>
              <a:t>Pfizer 2026</a:t>
            </a:r>
          </a:p>
        </p:txBody>
      </p:sp>
    </p:spTree>
    <p:extLst>
      <p:ext uri="{BB962C8B-B14F-4D97-AF65-F5344CB8AC3E}">
        <p14:creationId xmlns:p14="http://schemas.microsoft.com/office/powerpoint/2010/main" val="1519156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</p:sldLayoutIdLst>
  <p:hf hdr="0"/>
  <p:txStyles>
    <p:titleStyle>
      <a:lvl1pPr algn="l" defTabSz="914171" rtl="0" eaLnBrk="1" latinLnBrk="0" hangingPunct="1">
        <a:lnSpc>
          <a:spcPct val="90000"/>
        </a:lnSpc>
        <a:spcBef>
          <a:spcPct val="0"/>
        </a:spcBef>
        <a:buNone/>
        <a:defRPr lang="en-US" sz="2999" b="1" kern="1200" spc="-25" dirty="0">
          <a:solidFill>
            <a:schemeClr val="accent1"/>
          </a:solidFill>
          <a:latin typeface="Pfizer Tomorrow" panose="02010503040201060303" pitchFamily="2" charset="77"/>
          <a:ea typeface="+mj-ea"/>
          <a:cs typeface="+mj-cs"/>
        </a:defRPr>
      </a:lvl1pPr>
    </p:titleStyle>
    <p:bodyStyle>
      <a:lvl1pPr marL="228543" indent="-228543" algn="l" defTabSz="91417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1600" kern="1200" spc="-50" dirty="0" smtClean="0">
          <a:solidFill>
            <a:srgbClr val="02005E"/>
          </a:solidFill>
          <a:latin typeface="Pfizer Diatype" panose="020B0504040202060203" pitchFamily="34" charset="77"/>
          <a:ea typeface="+mn-ea"/>
          <a:cs typeface="+mn-cs"/>
        </a:defRPr>
      </a:lvl1pPr>
      <a:lvl2pPr marL="685629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kern="1200" spc="-50" dirty="0" smtClean="0">
          <a:solidFill>
            <a:srgbClr val="02005E"/>
          </a:solidFill>
          <a:latin typeface="Pfizer Diatype" panose="020B0504040202060203" pitchFamily="34" charset="77"/>
          <a:ea typeface="+mn-ea"/>
          <a:cs typeface="+mn-cs"/>
        </a:defRPr>
      </a:lvl2pPr>
      <a:lvl3pPr marL="1142714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kern="1200" spc="-50" dirty="0" smtClean="0">
          <a:solidFill>
            <a:srgbClr val="02005E"/>
          </a:solidFill>
          <a:latin typeface="Pfizer Diatype" panose="020B0504040202060203" pitchFamily="34" charset="77"/>
          <a:ea typeface="+mn-ea"/>
          <a:cs typeface="+mn-cs"/>
        </a:defRPr>
      </a:lvl3pPr>
      <a:lvl4pPr marL="1599800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kern="1200" spc="-50" dirty="0" smtClean="0">
          <a:solidFill>
            <a:srgbClr val="02005E"/>
          </a:solidFill>
          <a:latin typeface="Pfizer Diatype" panose="020B0504040202060203" pitchFamily="34" charset="77"/>
          <a:ea typeface="+mn-ea"/>
          <a:cs typeface="+mn-cs"/>
        </a:defRPr>
      </a:lvl4pPr>
      <a:lvl5pPr marL="2056886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kern="1200" spc="-50" dirty="0" smtClean="0">
          <a:solidFill>
            <a:srgbClr val="02005E"/>
          </a:solidFill>
          <a:latin typeface="Pfizer Diatype" panose="020B0504040202060203" pitchFamily="34" charset="77"/>
          <a:ea typeface="+mn-ea"/>
          <a:cs typeface="+mn-cs"/>
        </a:defRPr>
      </a:lvl5pPr>
      <a:lvl6pPr marL="2513971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57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42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29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6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1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7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29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14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600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85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888">
          <p15:clr>
            <a:srgbClr val="F26B43"/>
          </p15:clr>
        </p15:guide>
        <p15:guide id="2" pos="384">
          <p15:clr>
            <a:srgbClr val="F26B43"/>
          </p15:clr>
        </p15:guide>
        <p15:guide id="3" pos="7296">
          <p15:clr>
            <a:srgbClr val="F26B43"/>
          </p15:clr>
        </p15:guide>
        <p15:guide id="4" orient="horz" pos="432">
          <p15:clr>
            <a:srgbClr val="F26B43"/>
          </p15:clr>
        </p15:guide>
        <p15:guide id="5" orient="horz" pos="4176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C11AAD1-13AF-CDCD-0D2C-4EC08C52BA79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2281" y="6409856"/>
            <a:ext cx="723405" cy="295745"/>
          </a:xfrm>
          <a:prstGeom prst="rect">
            <a:avLst/>
          </a:prstGeom>
        </p:spPr>
      </p:pic>
      <p:sp>
        <p:nvSpPr>
          <p:cNvPr id="16" name="Slide Number Placeholder 9">
            <a:extLst>
              <a:ext uri="{FF2B5EF4-FFF2-40B4-BE49-F238E27FC236}">
                <a16:creationId xmlns:a16="http://schemas.microsoft.com/office/drawing/2014/main" id="{111582FF-352D-3C9E-EBF3-7F589EFBB6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38834" y="6515101"/>
            <a:ext cx="1143536" cy="153889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700" b="1" i="0">
                <a:solidFill>
                  <a:schemeClr val="accent1"/>
                </a:solidFill>
                <a:latin typeface="Pfizer Diatype Office" panose="020B0504040202060203" pitchFamily="34" charset="77"/>
              </a:defRPr>
            </a:lvl1pPr>
          </a:lstStyle>
          <a:p>
            <a:fld id="{2B39012A-6F33-204B-8224-A57BEFB0AAD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14ACB8-4481-F96B-2389-2019D4AEF43B}"/>
              </a:ext>
            </a:extLst>
          </p:cNvPr>
          <p:cNvSpPr txBox="1"/>
          <p:nvPr/>
        </p:nvSpPr>
        <p:spPr>
          <a:xfrm>
            <a:off x="8884349" y="6519446"/>
            <a:ext cx="2357610" cy="20005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 rtl="0"/>
            <a:r>
              <a:rPr lang="en-US" sz="700" b="1" i="0" kern="1200" dirty="0">
                <a:solidFill>
                  <a:schemeClr val="bg1">
                    <a:lumMod val="50000"/>
                  </a:schemeClr>
                </a:solidFill>
                <a:latin typeface="Pfizer Diatype Office" panose="020B0504040202060203" pitchFamily="34" charset="77"/>
                <a:ea typeface="+mn-ea"/>
                <a:cs typeface="+mn-cs"/>
              </a:rPr>
              <a:t>Pfizer 2026</a:t>
            </a:r>
          </a:p>
        </p:txBody>
      </p:sp>
    </p:spTree>
    <p:extLst>
      <p:ext uri="{BB962C8B-B14F-4D97-AF65-F5344CB8AC3E}">
        <p14:creationId xmlns:p14="http://schemas.microsoft.com/office/powerpoint/2010/main" val="2803761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</p:sldLayoutIdLst>
  <p:hf hdr="0"/>
  <p:txStyles>
    <p:titleStyle>
      <a:lvl1pPr algn="l" defTabSz="914171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43" indent="-228543" algn="l" defTabSz="91417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629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14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800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886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971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57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42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29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6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1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7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29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14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600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85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888">
          <p15:clr>
            <a:srgbClr val="F26B43"/>
          </p15:clr>
        </p15:guide>
        <p15:guide id="2" pos="384">
          <p15:clr>
            <a:srgbClr val="F26B43"/>
          </p15:clr>
        </p15:guide>
        <p15:guide id="3" pos="7296">
          <p15:clr>
            <a:srgbClr val="F26B43"/>
          </p15:clr>
        </p15:guide>
        <p15:guide id="4" orient="horz" pos="432">
          <p15:clr>
            <a:srgbClr val="F26B43"/>
          </p15:clr>
        </p15:guide>
        <p15:guide id="5" orient="horz" pos="4176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C11AAD1-13AF-CDCD-0D2C-4EC08C52BA79}"/>
              </a:ext>
            </a:extLst>
          </p:cNvPr>
          <p:cNvPicPr>
            <a:picLocks noChangeAspect="1"/>
          </p:cNvPicPr>
          <p:nvPr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2281" y="6409856"/>
            <a:ext cx="723405" cy="295745"/>
          </a:xfrm>
          <a:prstGeom prst="rect">
            <a:avLst/>
          </a:prstGeom>
        </p:spPr>
      </p:pic>
      <p:sp>
        <p:nvSpPr>
          <p:cNvPr id="16" name="Slide Number Placeholder 9">
            <a:extLst>
              <a:ext uri="{FF2B5EF4-FFF2-40B4-BE49-F238E27FC236}">
                <a16:creationId xmlns:a16="http://schemas.microsoft.com/office/drawing/2014/main" id="{111582FF-352D-3C9E-EBF3-7F589EFBB6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38834" y="6515101"/>
            <a:ext cx="1143536" cy="153889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700" b="1" i="0">
                <a:solidFill>
                  <a:schemeClr val="accent1"/>
                </a:solidFill>
                <a:latin typeface="Pfizer Diatype Office" panose="020B0504040202060203" pitchFamily="34" charset="77"/>
              </a:defRPr>
            </a:lvl1pPr>
          </a:lstStyle>
          <a:p>
            <a:fld id="{2B39012A-6F33-204B-8224-A57BEFB0AAD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E1C2A2-E8B7-FF21-B626-83D13A0FB7A9}"/>
              </a:ext>
            </a:extLst>
          </p:cNvPr>
          <p:cNvSpPr txBox="1"/>
          <p:nvPr/>
        </p:nvSpPr>
        <p:spPr>
          <a:xfrm>
            <a:off x="8884349" y="6519446"/>
            <a:ext cx="2357610" cy="20005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 rtl="0"/>
            <a:r>
              <a:rPr lang="en-US" sz="700" b="1" i="0" kern="1200" dirty="0">
                <a:solidFill>
                  <a:schemeClr val="bg1">
                    <a:lumMod val="50000"/>
                  </a:schemeClr>
                </a:solidFill>
                <a:latin typeface="Pfizer Diatype Office" panose="020B0504040202060203" pitchFamily="34" charset="77"/>
                <a:ea typeface="+mn-ea"/>
                <a:cs typeface="+mn-cs"/>
              </a:rPr>
              <a:t>Pfizer 2026</a:t>
            </a:r>
          </a:p>
        </p:txBody>
      </p:sp>
      <p:sp>
        <p:nvSpPr>
          <p:cNvPr id="6" name="Title Placeholder 5">
            <a:extLst>
              <a:ext uri="{FF2B5EF4-FFF2-40B4-BE49-F238E27FC236}">
                <a16:creationId xmlns:a16="http://schemas.microsoft.com/office/drawing/2014/main" id="{39B0011B-F0AA-D86B-9BB0-AC7677E63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482" y="16723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8BC3E7C-66CE-3A33-1042-2C02798E4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482" y="1344759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99931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</p:sldLayoutIdLst>
  <p:hf hdr="0"/>
  <p:txStyles>
    <p:titleStyle>
      <a:lvl1pPr marL="0" algn="l" defTabSz="914171" rtl="0" eaLnBrk="1" latinLnBrk="0" hangingPunct="1">
        <a:lnSpc>
          <a:spcPct val="90000"/>
        </a:lnSpc>
        <a:spcBef>
          <a:spcPct val="0"/>
        </a:spcBef>
        <a:buNone/>
        <a:defRPr lang="en-US" sz="2999" b="1" kern="1200" spc="-25" dirty="0">
          <a:solidFill>
            <a:schemeClr val="accent1"/>
          </a:solidFill>
          <a:latin typeface="Pfizer Tomorrow" panose="02010503040201060303" pitchFamily="2" charset="77"/>
          <a:ea typeface="+mj-ea"/>
          <a:cs typeface="+mj-cs"/>
        </a:defRPr>
      </a:lvl1pPr>
    </p:titleStyle>
    <p:bodyStyle>
      <a:lvl1pPr marL="228543" indent="-228543" algn="l" defTabSz="91417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Pfizer Diatype Office" panose="020B0504040202060203" pitchFamily="34" charset="77"/>
          <a:ea typeface="+mn-ea"/>
          <a:cs typeface="+mn-cs"/>
        </a:defRPr>
      </a:lvl1pPr>
      <a:lvl2pPr marL="685629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Pfizer Diatype Office" panose="020B0504040202060203" pitchFamily="34" charset="77"/>
          <a:ea typeface="+mn-ea"/>
          <a:cs typeface="+mn-cs"/>
        </a:defRPr>
      </a:lvl2pPr>
      <a:lvl3pPr marL="1142714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Pfizer Diatype Office" panose="020B0504040202060203" pitchFamily="34" charset="77"/>
          <a:ea typeface="+mn-ea"/>
          <a:cs typeface="+mn-cs"/>
        </a:defRPr>
      </a:lvl3pPr>
      <a:lvl4pPr marL="1599800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Pfizer Diatype Office" panose="020B0504040202060203" pitchFamily="34" charset="77"/>
          <a:ea typeface="+mn-ea"/>
          <a:cs typeface="+mn-cs"/>
        </a:defRPr>
      </a:lvl4pPr>
      <a:lvl5pPr marL="2056886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Pfizer Diatype Office" panose="020B0504040202060203" pitchFamily="34" charset="77"/>
          <a:ea typeface="+mn-ea"/>
          <a:cs typeface="+mn-cs"/>
        </a:defRPr>
      </a:lvl5pPr>
      <a:lvl6pPr marL="2513971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57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42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29" indent="-228543" algn="l" defTabSz="91417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6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1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7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29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14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600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85" algn="l" defTabSz="9141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888">
          <p15:clr>
            <a:srgbClr val="F26B43"/>
          </p15:clr>
        </p15:guide>
        <p15:guide id="2" pos="384">
          <p15:clr>
            <a:srgbClr val="F26B43"/>
          </p15:clr>
        </p15:guide>
        <p15:guide id="3" pos="7296">
          <p15:clr>
            <a:srgbClr val="F26B43"/>
          </p15:clr>
        </p15:guide>
        <p15:guide id="4" orient="horz" pos="432">
          <p15:clr>
            <a:srgbClr val="F26B43"/>
          </p15:clr>
        </p15:guide>
        <p15:guide id="5" orient="horz" pos="417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peakerdeck.com/jennybc/code-smells-and-feels" TargetMode="External"/><Relationship Id="rId2" Type="http://schemas.openxmlformats.org/officeDocument/2006/relationships/hyperlink" Target="https://tidyverse.org/blog/2017/12/workflow-vs-script/" TargetMode="Externa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osit-dev/skills/blob/main/posit-dev/critical-code-reviewer/SKILL.md" TargetMode="Externa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0.xml"/><Relationship Id="rId4" Type="http://schemas.openxmlformats.org/officeDocument/2006/relationships/hyperlink" Target="https://gh.r-lib.org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milyriederer.com" TargetMode="External"/><Relationship Id="rId7" Type="http://schemas.openxmlformats.org/officeDocument/2006/relationships/hyperlink" Target="https://www.cararthompson.com" TargetMode="External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7.xml"/><Relationship Id="rId6" Type="http://schemas.openxmlformats.org/officeDocument/2006/relationships/hyperlink" Target="https://nrennie.rbind.io/blog/" TargetMode="External"/><Relationship Id="rId5" Type="http://schemas.openxmlformats.org/officeDocument/2006/relationships/hyperlink" Target="https://masalmon.eu" TargetMode="External"/><Relationship Id="rId4" Type="http://schemas.openxmlformats.org/officeDocument/2006/relationships/hyperlink" Target="https://serve.podhome.fm/r-weekly-highlights" TargetMode="Externa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solve.it.com/" TargetMode="Externa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7.xml"/><Relationship Id="rId6" Type="http://schemas.openxmlformats.org/officeDocument/2006/relationships/hyperlink" Target="https://posit.co/blog?categories%5B96%5D=96&amp;search_api_fulltext=&amp;sort_by=date" TargetMode="External"/><Relationship Id="rId5" Type="http://schemas.openxmlformats.org/officeDocument/2006/relationships/hyperlink" Target="https://rweekly.org/" TargetMode="External"/><Relationship Id="rId4" Type="http://schemas.openxmlformats.org/officeDocument/2006/relationships/hyperlink" Target="https://github.com/DrCatHicks/learning-opportunities" TargetMode="Externa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DFA77-C070-82DF-0CF5-FA4F87EC2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 an age of AI,</a:t>
            </a:r>
            <a:br>
              <a:rPr lang="en-GB" dirty="0"/>
            </a:br>
            <a:r>
              <a:rPr lang="en-GB" dirty="0"/>
              <a:t>we still need people.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69AA44-E7C9-C78E-B333-8F177560FEE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8096" y="3226917"/>
            <a:ext cx="7787117" cy="1349296"/>
          </a:xfrm>
        </p:spPr>
        <p:txBody>
          <a:bodyPr/>
          <a:lstStyle/>
          <a:p>
            <a:r>
              <a:rPr lang="en-GB" dirty="0"/>
              <a:t>Mike K Smith</a:t>
            </a:r>
          </a:p>
          <a:p>
            <a:r>
              <a:rPr lang="en-GB" dirty="0"/>
              <a:t>Senior Director, Statistical Data Science Analytics.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68753C-30A0-D06F-58CC-3CD5C22C76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EARL Conference, 8</a:t>
            </a:r>
            <a:r>
              <a:rPr lang="en-GB" baseline="30000" dirty="0"/>
              <a:t>th</a:t>
            </a:r>
            <a:r>
              <a:rPr lang="en-GB" dirty="0"/>
              <a:t> Oct 2026</a:t>
            </a:r>
          </a:p>
        </p:txBody>
      </p:sp>
    </p:spTree>
    <p:extLst>
      <p:ext uri="{BB962C8B-B14F-4D97-AF65-F5344CB8AC3E}">
        <p14:creationId xmlns:p14="http://schemas.microsoft.com/office/powerpoint/2010/main" val="3890977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2AC0B1C-CC2D-12C2-D727-F94C756FA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do I view AI?</a:t>
            </a:r>
          </a:p>
        </p:txBody>
      </p:sp>
    </p:spTree>
    <p:extLst>
      <p:ext uri="{BB962C8B-B14F-4D97-AF65-F5344CB8AC3E}">
        <p14:creationId xmlns:p14="http://schemas.microsoft.com/office/powerpoint/2010/main" val="3592723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0CA06-5549-A92E-7455-964A990D6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7183307-1A98-6B80-F091-543085A4F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AI is transforming how we work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D04CF9-DC71-5288-F7F3-0863FCF62D53}"/>
              </a:ext>
            </a:extLst>
          </p:cNvPr>
          <p:cNvSpPr txBox="1"/>
          <p:nvPr/>
        </p:nvSpPr>
        <p:spPr>
          <a:xfrm>
            <a:off x="580397" y="1576550"/>
            <a:ext cx="511621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AI is like an infinite number of monkeys sitting in front of an infinite number of laptops (equipped with a Python or R IDE…)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227C2B6-39E9-197B-5E15-DA2CD9030BF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80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AA21C-E285-3F03-895D-8BDCB4FF1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97FB94C-DBB9-4585-F5E2-09BB7F3F9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AI is transforming how we work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CC5BC1-2849-EB18-E970-2A64C7F4F1A9}"/>
              </a:ext>
            </a:extLst>
          </p:cNvPr>
          <p:cNvSpPr txBox="1"/>
          <p:nvPr/>
        </p:nvSpPr>
        <p:spPr>
          <a:xfrm>
            <a:off x="580397" y="1576550"/>
            <a:ext cx="511621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It’s a 10x transformer for the </a:t>
            </a:r>
            <a:r>
              <a:rPr lang="en-GB" sz="3200" b="1" i="1" dirty="0"/>
              <a:t>speed</a:t>
            </a:r>
            <a:r>
              <a:rPr lang="en-GB" sz="3200" dirty="0"/>
              <a:t> at which we write code. </a:t>
            </a:r>
          </a:p>
          <a:p>
            <a:endParaRPr lang="en-GB" sz="3200" dirty="0"/>
          </a:p>
          <a:p>
            <a:r>
              <a:rPr lang="en-GB" sz="3200" dirty="0"/>
              <a:t>But also the </a:t>
            </a:r>
            <a:r>
              <a:rPr lang="en-GB" sz="3200" b="1" i="1" dirty="0"/>
              <a:t>amount</a:t>
            </a:r>
            <a:r>
              <a:rPr lang="en-GB" sz="3200" dirty="0"/>
              <a:t>.</a:t>
            </a:r>
          </a:p>
          <a:p>
            <a:endParaRPr lang="en-GB" sz="3200" dirty="0"/>
          </a:p>
          <a:p>
            <a:r>
              <a:rPr lang="en-GB" sz="3200" dirty="0"/>
              <a:t>Those monkeys are </a:t>
            </a:r>
            <a:r>
              <a:rPr lang="en-GB" sz="3200" b="1" i="1" dirty="0"/>
              <a:t>BUSY</a:t>
            </a:r>
            <a:r>
              <a:rPr lang="en-GB" sz="3200" dirty="0"/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C06EB60-376F-B591-9C29-CF8BB7F0C4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855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9430F-743C-DEEE-A726-C45CA50F0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8CA5D3D-060D-FE9B-5EEA-335252050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AI is transforming how we work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86263D-FA90-1B57-345D-3F71E7794F73}"/>
              </a:ext>
            </a:extLst>
          </p:cNvPr>
          <p:cNvSpPr txBox="1"/>
          <p:nvPr/>
        </p:nvSpPr>
        <p:spPr>
          <a:xfrm>
            <a:off x="580397" y="1576550"/>
            <a:ext cx="511621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I’m not saying the code is </a:t>
            </a:r>
            <a:r>
              <a:rPr lang="en-GB" sz="3200" b="1" i="1" dirty="0"/>
              <a:t>bad</a:t>
            </a:r>
            <a:r>
              <a:rPr lang="en-GB" sz="3200" dirty="0"/>
              <a:t>, but I </a:t>
            </a:r>
            <a:r>
              <a:rPr lang="en-GB" sz="3200" b="1" i="1" dirty="0"/>
              <a:t>am</a:t>
            </a:r>
            <a:r>
              <a:rPr lang="en-GB" sz="3200" dirty="0"/>
              <a:t> saying that </a:t>
            </a:r>
            <a:r>
              <a:rPr lang="en-GB" sz="3200" dirty="0">
                <a:hlinkClick r:id="rId2"/>
              </a:rPr>
              <a:t>Jenny </a:t>
            </a:r>
            <a:r>
              <a:rPr lang="en-GB" sz="3200">
                <a:hlinkClick r:id="rId2"/>
              </a:rPr>
              <a:t>Bryan </a:t>
            </a:r>
            <a:r>
              <a:rPr lang="en-GB" sz="3200"/>
              <a:t>might </a:t>
            </a:r>
            <a:r>
              <a:rPr lang="en-GB" sz="3200" dirty="0"/>
              <a:t>have opinions about the </a:t>
            </a:r>
            <a:r>
              <a:rPr lang="en-GB" sz="3200" dirty="0">
                <a:hlinkClick r:id="rId3"/>
              </a:rPr>
              <a:t>code smells and feels</a:t>
            </a:r>
            <a:r>
              <a:rPr lang="en-GB" sz="3200" dirty="0"/>
              <a:t>…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E4416C9-9375-76F1-BDFA-5E702CC287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673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2AC0B1C-CC2D-12C2-D727-F94C756FA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are my experiences (so far) with using AI for data science?</a:t>
            </a:r>
          </a:p>
        </p:txBody>
      </p:sp>
    </p:spTree>
    <p:extLst>
      <p:ext uri="{BB962C8B-B14F-4D97-AF65-F5344CB8AC3E}">
        <p14:creationId xmlns:p14="http://schemas.microsoft.com/office/powerpoint/2010/main" val="3576166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22474-CB17-1075-D6A6-C71277514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396" y="615426"/>
            <a:ext cx="4107217" cy="405454"/>
          </a:xfrm>
        </p:spPr>
        <p:txBody>
          <a:bodyPr>
            <a:normAutofit fontScale="90000"/>
          </a:bodyPr>
          <a:lstStyle/>
          <a:p>
            <a:r>
              <a:rPr lang="en-GB" dirty="0"/>
              <a:t>My personal experiences (1)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3E97A5-1BD8-7305-CB00-53CB91BDF7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39012A-6F33-204B-8224-A57BEFB0AAD0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7EA4D9-F966-6905-906D-29FAABB1FF6A}"/>
              </a:ext>
            </a:extLst>
          </p:cNvPr>
          <p:cNvSpPr txBox="1"/>
          <p:nvPr/>
        </p:nvSpPr>
        <p:spPr>
          <a:xfrm>
            <a:off x="580397" y="1576550"/>
            <a:ext cx="511621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I’m astounded at AI assisted exploratory data analysis…</a:t>
            </a:r>
          </a:p>
          <a:p>
            <a:endParaRPr lang="en-GB" sz="3200" dirty="0"/>
          </a:p>
          <a:p>
            <a:r>
              <a:rPr lang="en-GB" sz="3200" dirty="0"/>
              <a:t>Useful insights, traceability.</a:t>
            </a:r>
          </a:p>
          <a:p>
            <a:endParaRPr lang="en-GB" sz="3200" dirty="0"/>
          </a:p>
          <a:p>
            <a:r>
              <a:rPr lang="en-GB" sz="3200" dirty="0"/>
              <a:t>Fast.</a:t>
            </a:r>
          </a:p>
          <a:p>
            <a:endParaRPr lang="en-GB" sz="3200" dirty="0"/>
          </a:p>
          <a:p>
            <a:r>
              <a:rPr lang="en-GB" sz="3200" dirty="0">
                <a:latin typeface="Consolas" panose="020B0609020204030204" pitchFamily="49" charset="0"/>
              </a:rPr>
              <a:t>/report </a:t>
            </a:r>
            <a:r>
              <a:rPr lang="en-GB" sz="3200" dirty="0"/>
              <a:t>is </a:t>
            </a:r>
          </a:p>
        </p:txBody>
      </p:sp>
      <p:pic>
        <p:nvPicPr>
          <p:cNvPr id="7" name="Graphic 6" descr="Thumbs up sign with solid fill">
            <a:extLst>
              <a:ext uri="{FF2B5EF4-FFF2-40B4-BE49-F238E27FC236}">
                <a16:creationId xmlns:a16="http://schemas.microsoft.com/office/drawing/2014/main" id="{1586B102-05AA-2705-B249-0EB51F94C0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42744" y="5186465"/>
            <a:ext cx="914400" cy="914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AB6A00D-0615-77A7-190E-2C254BD1D77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11917" y="0"/>
            <a:ext cx="61800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054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F6013-95C2-4C5B-614E-0577CC9A3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498E4-96AC-9BCD-0608-D53CD2CEC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396" y="615426"/>
            <a:ext cx="4107217" cy="405454"/>
          </a:xfrm>
        </p:spPr>
        <p:txBody>
          <a:bodyPr>
            <a:normAutofit fontScale="90000"/>
          </a:bodyPr>
          <a:lstStyle/>
          <a:p>
            <a:r>
              <a:rPr lang="en-GB" dirty="0"/>
              <a:t>My personal experiences (2)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116D01-0C99-C9F3-105A-81561FEBD7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39012A-6F33-204B-8224-A57BEFB0AAD0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E217AC0-8F5C-9218-74C8-61D22B0682C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64772" y="0"/>
            <a:ext cx="6327228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BB687E-6E96-C52C-01CE-814E82F37FE6}"/>
              </a:ext>
            </a:extLst>
          </p:cNvPr>
          <p:cNvSpPr txBox="1"/>
          <p:nvPr/>
        </p:nvSpPr>
        <p:spPr>
          <a:xfrm>
            <a:off x="580397" y="1576550"/>
            <a:ext cx="511621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Continue using your good practice workflows:</a:t>
            </a:r>
          </a:p>
          <a:p>
            <a:endParaRPr lang="en-GB" sz="3200" dirty="0"/>
          </a:p>
          <a:p>
            <a:pPr marL="514350" indent="-514350">
              <a:buFont typeface="+mj-lt"/>
              <a:buAutoNum type="arabicPeriod"/>
            </a:pPr>
            <a:r>
              <a:rPr lang="en-GB" sz="3200" dirty="0"/>
              <a:t>Write code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3200" dirty="0"/>
              <a:t>Turn it into a function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3200" dirty="0"/>
              <a:t>Test and document that function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3200" dirty="0"/>
              <a:t>Use that function in a Shiny app.</a:t>
            </a:r>
          </a:p>
        </p:txBody>
      </p:sp>
    </p:spTree>
    <p:extLst>
      <p:ext uri="{BB962C8B-B14F-4D97-AF65-F5344CB8AC3E}">
        <p14:creationId xmlns:p14="http://schemas.microsoft.com/office/powerpoint/2010/main" val="3723609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D90C7-1CA3-C2EE-7EDB-74F49D324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DFC2A-F373-D235-DF1E-5B081116C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396" y="615426"/>
            <a:ext cx="4107217" cy="405454"/>
          </a:xfrm>
        </p:spPr>
        <p:txBody>
          <a:bodyPr>
            <a:normAutofit fontScale="90000"/>
          </a:bodyPr>
          <a:lstStyle/>
          <a:p>
            <a:r>
              <a:rPr lang="en-GB" dirty="0"/>
              <a:t>My personal experiences (2)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6A0CB7-6E59-1534-980C-C45B45E16B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39012A-6F33-204B-8224-A57BEFB0AAD0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5D5C478-F86E-805D-7855-11DAAD512E5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64772" y="0"/>
            <a:ext cx="6327228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70B7EE-A5B0-9DD6-B0DA-1C5D881179BC}"/>
              </a:ext>
            </a:extLst>
          </p:cNvPr>
          <p:cNvSpPr txBox="1"/>
          <p:nvPr/>
        </p:nvSpPr>
        <p:spPr>
          <a:xfrm>
            <a:off x="580397" y="1576550"/>
            <a:ext cx="511621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Shiny apps can become single-use and “disposable” </a:t>
            </a:r>
          </a:p>
          <a:p>
            <a:endParaRPr lang="en-GB" sz="3200" dirty="0"/>
          </a:p>
          <a:p>
            <a:r>
              <a:rPr lang="en-GB" sz="3200" dirty="0"/>
              <a:t>…rather than “build it once, build it well, deploy it, let others use it.”</a:t>
            </a:r>
          </a:p>
        </p:txBody>
      </p:sp>
    </p:spTree>
    <p:extLst>
      <p:ext uri="{BB962C8B-B14F-4D97-AF65-F5344CB8AC3E}">
        <p14:creationId xmlns:p14="http://schemas.microsoft.com/office/powerpoint/2010/main" val="14771519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AC547-A18F-4466-5503-E3EAFB4BB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368B3-6BC2-AE0B-77F7-A320C747E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396" y="615426"/>
            <a:ext cx="4107217" cy="405454"/>
          </a:xfrm>
        </p:spPr>
        <p:txBody>
          <a:bodyPr>
            <a:normAutofit fontScale="90000"/>
          </a:bodyPr>
          <a:lstStyle/>
          <a:p>
            <a:r>
              <a:rPr lang="en-GB" dirty="0"/>
              <a:t>My personal experiences (3)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74A7AC-5712-8E36-9793-4043A628FB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39012A-6F33-204B-8224-A57BEFB0AAD0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56A9CD-E970-44A8-F6E7-BB3A852F1B4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64772" y="0"/>
            <a:ext cx="6327228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A517DA-5019-7C3F-29ED-3C357B28EE8B}"/>
              </a:ext>
            </a:extLst>
          </p:cNvPr>
          <p:cNvSpPr txBox="1"/>
          <p:nvPr/>
        </p:nvSpPr>
        <p:spPr>
          <a:xfrm>
            <a:off x="580397" y="1576550"/>
            <a:ext cx="511621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Refactoring code:</a:t>
            </a:r>
          </a:p>
          <a:p>
            <a:endParaRPr lang="en-GB" sz="3200" dirty="0"/>
          </a:p>
          <a:p>
            <a:r>
              <a:rPr lang="en-GB" sz="3200" dirty="0"/>
              <a:t>AI did a LOT of work quickly over several iterations. Generated a TON of code and (wordy!) documentation…</a:t>
            </a:r>
          </a:p>
        </p:txBody>
      </p:sp>
    </p:spTree>
    <p:extLst>
      <p:ext uri="{BB962C8B-B14F-4D97-AF65-F5344CB8AC3E}">
        <p14:creationId xmlns:p14="http://schemas.microsoft.com/office/powerpoint/2010/main" val="11679348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FFE4C-1452-44E1-AB45-6A271A0EC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C4D98-E55B-F073-EDDF-1B38FA54C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396" y="615426"/>
            <a:ext cx="4107217" cy="405454"/>
          </a:xfrm>
        </p:spPr>
        <p:txBody>
          <a:bodyPr>
            <a:normAutofit fontScale="90000"/>
          </a:bodyPr>
          <a:lstStyle/>
          <a:p>
            <a:r>
              <a:rPr lang="en-GB" dirty="0"/>
              <a:t>My personal experiences (3)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A26A2B-FBB1-887D-2E77-E39EFE5E68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39012A-6F33-204B-8224-A57BEFB0AAD0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DB7CAC-90B4-D3F1-8DE0-80FB611E3FC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64772" y="0"/>
            <a:ext cx="6327228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A5A38C-FB6A-6708-ED22-26D7975C21A5}"/>
              </a:ext>
            </a:extLst>
          </p:cNvPr>
          <p:cNvSpPr txBox="1"/>
          <p:nvPr/>
        </p:nvSpPr>
        <p:spPr>
          <a:xfrm>
            <a:off x="580397" y="1576550"/>
            <a:ext cx="511621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Refactoring code:</a:t>
            </a:r>
          </a:p>
          <a:p>
            <a:endParaRPr lang="en-GB" sz="3200" dirty="0"/>
          </a:p>
          <a:p>
            <a:r>
              <a:rPr lang="en-GB" sz="3200" dirty="0"/>
              <a:t>…I’m still working through what it has done, trying to understand and evaluate it.</a:t>
            </a:r>
          </a:p>
          <a:p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0413863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43938-E5C1-08E2-0C82-4E6433400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3343D-E588-2642-5BEE-F38211968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396" y="615426"/>
            <a:ext cx="4107217" cy="405454"/>
          </a:xfrm>
        </p:spPr>
        <p:txBody>
          <a:bodyPr>
            <a:normAutofit fontScale="90000"/>
          </a:bodyPr>
          <a:lstStyle/>
          <a:p>
            <a:r>
              <a:rPr lang="en-GB" dirty="0"/>
              <a:t>My personal experiences (3)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2EFACD-9228-71DF-35B3-C40A6CFB2E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39012A-6F33-204B-8224-A57BEFB0AAD0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4AEB4AB-C7A8-D32D-9A57-788D3C8C116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64772" y="0"/>
            <a:ext cx="6327228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CFCB903-A34E-1D64-7FD9-98F5E67BD581}"/>
              </a:ext>
            </a:extLst>
          </p:cNvPr>
          <p:cNvSpPr txBox="1"/>
          <p:nvPr/>
        </p:nvSpPr>
        <p:spPr>
          <a:xfrm>
            <a:off x="580397" y="1576550"/>
            <a:ext cx="511621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Refactoring code:</a:t>
            </a:r>
          </a:p>
          <a:p>
            <a:endParaRPr lang="en-GB" sz="2800" dirty="0"/>
          </a:p>
          <a:p>
            <a:r>
              <a:rPr lang="en-GB" sz="2800" dirty="0"/>
              <a:t>STOP. THINK.</a:t>
            </a:r>
          </a:p>
          <a:p>
            <a:r>
              <a:rPr lang="en-GB" sz="2800" dirty="0"/>
              <a:t>DEFINE / REFINE THE DESIGN PRINCIPLES.</a:t>
            </a:r>
          </a:p>
          <a:p>
            <a:endParaRPr lang="en-GB" sz="2800" dirty="0"/>
          </a:p>
          <a:p>
            <a:r>
              <a:rPr lang="en-GB" sz="2800" dirty="0"/>
              <a:t>Get AI to ask you questions based on code and documentation… Gain better understanding.</a:t>
            </a:r>
          </a:p>
        </p:txBody>
      </p:sp>
    </p:spTree>
    <p:extLst>
      <p:ext uri="{BB962C8B-B14F-4D97-AF65-F5344CB8AC3E}">
        <p14:creationId xmlns:p14="http://schemas.microsoft.com/office/powerpoint/2010/main" val="17029307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3424B-6B59-16CE-3838-D03777658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193C6-151A-AD0B-99BD-9972B2944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396" y="615426"/>
            <a:ext cx="4107217" cy="405454"/>
          </a:xfrm>
        </p:spPr>
        <p:txBody>
          <a:bodyPr>
            <a:normAutofit fontScale="90000"/>
          </a:bodyPr>
          <a:lstStyle/>
          <a:p>
            <a:r>
              <a:rPr lang="en-GB" dirty="0"/>
              <a:t>My personal experiences (4)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EF281D-54A8-5CC0-7223-4A042A8296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39012A-6F33-204B-8224-A57BEFB0AAD0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4F798B1-9B6E-1E28-7C45-48E5C656F4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64772" y="0"/>
            <a:ext cx="6327228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A8EB21-F3F9-C18B-C354-BCADE66DE1C9}"/>
              </a:ext>
            </a:extLst>
          </p:cNvPr>
          <p:cNvSpPr txBox="1"/>
          <p:nvPr/>
        </p:nvSpPr>
        <p:spPr>
          <a:xfrm>
            <a:off x="580397" y="1576550"/>
            <a:ext cx="511621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Skill definitions are going to be transformative.</a:t>
            </a:r>
          </a:p>
          <a:p>
            <a:endParaRPr lang="en-GB" sz="3200" dirty="0"/>
          </a:p>
          <a:p>
            <a:r>
              <a:rPr lang="en-GB" sz="3200" dirty="0"/>
              <a:t>Can we capture and codify our workflows and knowledge so that agents produce content more aligned with “how we work”?</a:t>
            </a:r>
          </a:p>
        </p:txBody>
      </p:sp>
    </p:spTree>
    <p:extLst>
      <p:ext uri="{BB962C8B-B14F-4D97-AF65-F5344CB8AC3E}">
        <p14:creationId xmlns:p14="http://schemas.microsoft.com/office/powerpoint/2010/main" val="41143890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C9EC1-5CC5-1475-3142-4CC17D493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99350-5878-BF81-C215-1A3E464D3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396" y="615426"/>
            <a:ext cx="4107217" cy="405454"/>
          </a:xfrm>
        </p:spPr>
        <p:txBody>
          <a:bodyPr>
            <a:normAutofit fontScale="90000"/>
          </a:bodyPr>
          <a:lstStyle/>
          <a:p>
            <a:r>
              <a:rPr lang="en-GB" dirty="0"/>
              <a:t>My personal experiences (4)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69A9CD-5C76-05C7-CD65-364BD78BB3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39012A-6F33-204B-8224-A57BEFB0AAD0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CC24030-E127-BC14-E6B0-2C15A5BFE22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64772" y="0"/>
            <a:ext cx="6327228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82A08B6-61EF-36F1-BCDC-C9A6AFBF12C0}"/>
              </a:ext>
            </a:extLst>
          </p:cNvPr>
          <p:cNvSpPr txBox="1"/>
          <p:nvPr/>
        </p:nvSpPr>
        <p:spPr>
          <a:xfrm>
            <a:off x="580397" y="1576550"/>
            <a:ext cx="511621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Using </a:t>
            </a:r>
            <a:r>
              <a:rPr lang="en-GB" sz="2800" dirty="0">
                <a:hlinkClick r:id="rId3"/>
              </a:rPr>
              <a:t>Posit-Dev skill “critical-code-reviewer” </a:t>
            </a:r>
            <a:r>
              <a:rPr lang="en-GB" sz="2800" dirty="0"/>
              <a:t>is like having Posit developers helping with your code review.</a:t>
            </a:r>
          </a:p>
          <a:p>
            <a:endParaRPr lang="en-GB" sz="2800" dirty="0"/>
          </a:p>
          <a:p>
            <a:r>
              <a:rPr lang="en-GB" sz="2800" i="1" dirty="0"/>
              <a:t>BTW: Kinda chic to use {</a:t>
            </a:r>
            <a:r>
              <a:rPr lang="en-GB" sz="2800" i="1" dirty="0" err="1">
                <a:hlinkClick r:id="rId4"/>
              </a:rPr>
              <a:t>gh</a:t>
            </a:r>
            <a:r>
              <a:rPr lang="en-GB" sz="2800" i="1" dirty="0"/>
              <a:t>} package to create GitHub Issues off the back of the findings…</a:t>
            </a:r>
          </a:p>
        </p:txBody>
      </p:sp>
    </p:spTree>
    <p:extLst>
      <p:ext uri="{BB962C8B-B14F-4D97-AF65-F5344CB8AC3E}">
        <p14:creationId xmlns:p14="http://schemas.microsoft.com/office/powerpoint/2010/main" val="17534892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481DAB-744F-4AAB-3045-DF9C080320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B39012A-6F33-204B-8224-A57BEFB0AAD0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FA69090-599E-933A-84E1-614CA8B09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Questions and concerns I have…</a:t>
            </a:r>
          </a:p>
        </p:txBody>
      </p:sp>
    </p:spTree>
    <p:extLst>
      <p:ext uri="{BB962C8B-B14F-4D97-AF65-F5344CB8AC3E}">
        <p14:creationId xmlns:p14="http://schemas.microsoft.com/office/powerpoint/2010/main" val="28957507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DB1D8E2-6477-E530-1BD3-8C3132F1804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814A02F-440C-85A3-1E1E-AA3BE2E51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FAST to PoC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FCE0B1-6AF1-7EED-ABE5-33D447752A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39012A-6F33-204B-8224-A57BEFB0AAD0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298CA9-1C35-4D9B-1530-DD97D100DFFA}"/>
              </a:ext>
            </a:extLst>
          </p:cNvPr>
          <p:cNvSpPr txBox="1"/>
          <p:nvPr/>
        </p:nvSpPr>
        <p:spPr>
          <a:xfrm>
            <a:off x="580397" y="1576550"/>
            <a:ext cx="511621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We can go </a:t>
            </a:r>
            <a:r>
              <a:rPr lang="en-GB" sz="2800" b="1" i="1" dirty="0"/>
              <a:t>REALLY</a:t>
            </a:r>
            <a:r>
              <a:rPr lang="en-GB" sz="2800" dirty="0"/>
              <a:t> quickly from nothing to something.</a:t>
            </a:r>
          </a:p>
          <a:p>
            <a:endParaRPr lang="en-GB" sz="2800" dirty="0"/>
          </a:p>
          <a:p>
            <a:r>
              <a:rPr lang="en-GB" sz="2800" dirty="0"/>
              <a:t>Potential for Agile development is huge.</a:t>
            </a:r>
          </a:p>
          <a:p>
            <a:endParaRPr lang="en-GB" sz="2800" dirty="0"/>
          </a:p>
          <a:p>
            <a:r>
              <a:rPr lang="en-GB" sz="2800" dirty="0"/>
              <a:t>Customer can get hands on with a functioning prototype and provide feedback </a:t>
            </a:r>
            <a:r>
              <a:rPr lang="en-GB" sz="2800" b="1" i="1" dirty="0"/>
              <a:t>QUICKLY</a:t>
            </a:r>
            <a:r>
              <a:rPr lang="en-GB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850615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656E4-F6C2-3F2A-5497-89E02B94F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F5925FA-4C24-B6CE-8A9F-44C5402B52B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0C1112B-5D67-C204-4D3B-2BD0AEDC8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FAST to PoC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D94488A-0A69-5E53-9A4C-EAA7B7FDDB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39012A-6F33-204B-8224-A57BEFB0AAD0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CCF720-A7B7-BFEC-40E6-D4246F3843CF}"/>
              </a:ext>
            </a:extLst>
          </p:cNvPr>
          <p:cNvSpPr txBox="1"/>
          <p:nvPr/>
        </p:nvSpPr>
        <p:spPr>
          <a:xfrm>
            <a:off x="580397" y="1576550"/>
            <a:ext cx="511621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i="1" dirty="0"/>
              <a:t>BUT THEN…</a:t>
            </a:r>
          </a:p>
          <a:p>
            <a:endParaRPr lang="en-GB" sz="3200" dirty="0"/>
          </a:p>
          <a:p>
            <a:r>
              <a:rPr lang="en-GB" sz="3200" dirty="0"/>
              <a:t>Going from PoC to Production code: we may need to refactor quite a lot of content to make it more sustainable and manageable.</a:t>
            </a:r>
          </a:p>
        </p:txBody>
      </p:sp>
    </p:spTree>
    <p:extLst>
      <p:ext uri="{BB962C8B-B14F-4D97-AF65-F5344CB8AC3E}">
        <p14:creationId xmlns:p14="http://schemas.microsoft.com/office/powerpoint/2010/main" val="9076210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8191C-604E-D67D-DAB7-ED24A25D0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05CBA6A-6BFC-D5FE-EBAB-9785367B70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C4FE436-AE50-5259-5489-CEEB6724C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396" y="615426"/>
            <a:ext cx="4818917" cy="405454"/>
          </a:xfrm>
        </p:spPr>
        <p:txBody>
          <a:bodyPr>
            <a:normAutofit fontScale="90000"/>
          </a:bodyPr>
          <a:lstStyle/>
          <a:p>
            <a:r>
              <a:rPr lang="en-GB" dirty="0"/>
              <a:t>Functional but not maintainable (by humans)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4B7BAB-814E-9880-DE3E-5FA123EC4D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39012A-6F33-204B-8224-A57BEFB0AAD0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4DC361-3A9B-B87F-578C-FCEB9DAC6441}"/>
              </a:ext>
            </a:extLst>
          </p:cNvPr>
          <p:cNvSpPr txBox="1"/>
          <p:nvPr/>
        </p:nvSpPr>
        <p:spPr>
          <a:xfrm>
            <a:off x="580397" y="1576550"/>
            <a:ext cx="511621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i="1" dirty="0"/>
              <a:t>DOES IT MATTER </a:t>
            </a:r>
            <a:r>
              <a:rPr lang="en-GB" sz="3200" dirty="0"/>
              <a:t>how it’s built as long as the end product </a:t>
            </a:r>
            <a:r>
              <a:rPr lang="en-GB" sz="3200" b="1" i="1" dirty="0"/>
              <a:t>WORKS</a:t>
            </a:r>
            <a:r>
              <a:rPr lang="en-GB" sz="3200" dirty="0"/>
              <a:t>, even if we don’t know </a:t>
            </a:r>
            <a:r>
              <a:rPr lang="en-GB" sz="3200" b="1" i="1" dirty="0"/>
              <a:t>HOW</a:t>
            </a:r>
            <a:r>
              <a:rPr lang="en-GB" sz="3200" dirty="0"/>
              <a:t>?</a:t>
            </a:r>
          </a:p>
          <a:p>
            <a:endParaRPr lang="en-GB" sz="3200" dirty="0"/>
          </a:p>
          <a:p>
            <a:r>
              <a:rPr lang="en-GB" sz="3200" dirty="0"/>
              <a:t>Presumably it can be fixed later (by AI) if it breaks…</a:t>
            </a:r>
          </a:p>
        </p:txBody>
      </p:sp>
    </p:spTree>
    <p:extLst>
      <p:ext uri="{BB962C8B-B14F-4D97-AF65-F5344CB8AC3E}">
        <p14:creationId xmlns:p14="http://schemas.microsoft.com/office/powerpoint/2010/main" val="31757298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AF4EF-2B23-F190-6869-12984523B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81BAA7C-D092-A55B-E257-DF7B26464EC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8F14EDCE-573A-6A6A-ACFB-401F650A1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397" y="615426"/>
            <a:ext cx="3791906" cy="405454"/>
          </a:xfrm>
        </p:spPr>
        <p:txBody>
          <a:bodyPr>
            <a:normAutofit fontScale="90000"/>
          </a:bodyPr>
          <a:lstStyle/>
          <a:p>
            <a:r>
              <a:rPr lang="en-GB" dirty="0"/>
              <a:t>Vibe coding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5A68EDF-2706-8961-05C2-EF518BA98F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39012A-6F33-204B-8224-A57BEFB0AAD0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9AF222-FFE1-D8CA-22B0-6A9A89FB89F3}"/>
              </a:ext>
            </a:extLst>
          </p:cNvPr>
          <p:cNvSpPr txBox="1"/>
          <p:nvPr/>
        </p:nvSpPr>
        <p:spPr>
          <a:xfrm>
            <a:off x="580397" y="1576550"/>
            <a:ext cx="511621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Confidently wrong.</a:t>
            </a:r>
          </a:p>
          <a:p>
            <a:endParaRPr lang="en-GB" sz="2400" dirty="0"/>
          </a:p>
          <a:p>
            <a:r>
              <a:rPr lang="en-GB" sz="2400" dirty="0"/>
              <a:t>No idea </a:t>
            </a:r>
            <a:r>
              <a:rPr lang="en-GB" sz="2400" b="1" i="1" dirty="0"/>
              <a:t>why</a:t>
            </a:r>
            <a:r>
              <a:rPr lang="en-GB" sz="2400" dirty="0"/>
              <a:t> it works.</a:t>
            </a:r>
          </a:p>
          <a:p>
            <a:endParaRPr lang="en-GB" sz="2400" dirty="0"/>
          </a:p>
          <a:p>
            <a:r>
              <a:rPr lang="en-GB" sz="2400" dirty="0"/>
              <a:t>No idea </a:t>
            </a:r>
            <a:r>
              <a:rPr lang="en-GB" sz="2400" b="1" i="1" dirty="0"/>
              <a:t>why</a:t>
            </a:r>
            <a:r>
              <a:rPr lang="en-GB" sz="2400" dirty="0"/>
              <a:t> it went wrong.</a:t>
            </a:r>
          </a:p>
          <a:p>
            <a:endParaRPr lang="en-GB" sz="2400" dirty="0"/>
          </a:p>
          <a:p>
            <a:r>
              <a:rPr lang="en-GB" sz="2400" dirty="0"/>
              <a:t>Confidently fixing things at random.</a:t>
            </a:r>
          </a:p>
          <a:p>
            <a:endParaRPr lang="en-GB" sz="2400" dirty="0"/>
          </a:p>
          <a:p>
            <a:r>
              <a:rPr lang="en-GB" sz="2400" dirty="0"/>
              <a:t>Colleagues should have a “license to use AI” – minimal R or Python skillset before use.</a:t>
            </a:r>
          </a:p>
        </p:txBody>
      </p:sp>
    </p:spTree>
    <p:extLst>
      <p:ext uri="{BB962C8B-B14F-4D97-AF65-F5344CB8AC3E}">
        <p14:creationId xmlns:p14="http://schemas.microsoft.com/office/powerpoint/2010/main" val="39850629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9DDC5-7B65-C899-F0FB-64A2DC0C9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D3F92E0-E209-3A48-05E0-2E8B35AB525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C98A3DA-7233-A888-7BC9-1704A441B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397" y="615426"/>
            <a:ext cx="3791906" cy="405454"/>
          </a:xfrm>
        </p:spPr>
        <p:txBody>
          <a:bodyPr>
            <a:normAutofit fontScale="90000"/>
          </a:bodyPr>
          <a:lstStyle/>
          <a:p>
            <a:r>
              <a:rPr lang="en-GB" dirty="0"/>
              <a:t>AI bots talking to AI bots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670025-9603-BDEE-92E1-172179E202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39012A-6F33-204B-8224-A57BEFB0AAD0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386FDF-0EDB-C9FC-6883-86D48CF4473D}"/>
              </a:ext>
            </a:extLst>
          </p:cNvPr>
          <p:cNvSpPr txBox="1"/>
          <p:nvPr/>
        </p:nvSpPr>
        <p:spPr>
          <a:xfrm>
            <a:off x="580397" y="1576550"/>
            <a:ext cx="511621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If we leave it to an AI agent to review code that another AI has written then are we really winning?</a:t>
            </a:r>
          </a:p>
          <a:p>
            <a:endParaRPr lang="en-GB" sz="3200" dirty="0"/>
          </a:p>
          <a:p>
            <a:r>
              <a:rPr lang="en-GB" sz="3200" dirty="0"/>
              <a:t>I worry about us devolving human review and </a:t>
            </a:r>
            <a:r>
              <a:rPr lang="en-GB" sz="3200" b="1" i="1" dirty="0"/>
              <a:t>oversight</a:t>
            </a:r>
            <a:r>
              <a:rPr lang="en-GB" sz="3200" dirty="0"/>
              <a:t> to AI…</a:t>
            </a:r>
          </a:p>
        </p:txBody>
      </p:sp>
    </p:spTree>
    <p:extLst>
      <p:ext uri="{BB962C8B-B14F-4D97-AF65-F5344CB8AC3E}">
        <p14:creationId xmlns:p14="http://schemas.microsoft.com/office/powerpoint/2010/main" val="15735765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6C2AE-4F07-8143-72AB-92DCBE99D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A6694E9-104C-23A7-15E7-88DEE03EBD3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8673CBC-C4FD-CA3F-F7A7-91B3697F4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397" y="615426"/>
            <a:ext cx="3791906" cy="405454"/>
          </a:xfrm>
        </p:spPr>
        <p:txBody>
          <a:bodyPr>
            <a:normAutofit fontScale="90000"/>
          </a:bodyPr>
          <a:lstStyle/>
          <a:p>
            <a:r>
              <a:rPr lang="en-GB" dirty="0"/>
              <a:t>Organisations devoid of developers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83CB41-33F5-2C4E-7C3E-A6EC4FDF10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39012A-6F33-204B-8224-A57BEFB0AAD0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C5A5B3-951F-311A-EC00-C35375A523EA}"/>
              </a:ext>
            </a:extLst>
          </p:cNvPr>
          <p:cNvSpPr txBox="1"/>
          <p:nvPr/>
        </p:nvSpPr>
        <p:spPr>
          <a:xfrm>
            <a:off x="580397" y="1576550"/>
            <a:ext cx="511621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Some companies are going to decide that they don’t need “ground level” developers any more.</a:t>
            </a:r>
          </a:p>
          <a:p>
            <a:endParaRPr lang="en-GB" sz="2400" dirty="0"/>
          </a:p>
          <a:p>
            <a:r>
              <a:rPr lang="en-GB" sz="2400" dirty="0"/>
              <a:t>Experienced developers become AI “code checkers”, architects, etc.</a:t>
            </a:r>
            <a:br>
              <a:rPr lang="en-GB" sz="2400" dirty="0"/>
            </a:br>
            <a:br>
              <a:rPr lang="en-GB" sz="2400" dirty="0"/>
            </a:br>
            <a:r>
              <a:rPr lang="en-GB" sz="2400" dirty="0"/>
              <a:t>But then, how do you grow the next generation of experienced developers? </a:t>
            </a:r>
          </a:p>
        </p:txBody>
      </p:sp>
    </p:spTree>
    <p:extLst>
      <p:ext uri="{BB962C8B-B14F-4D97-AF65-F5344CB8AC3E}">
        <p14:creationId xmlns:p14="http://schemas.microsoft.com/office/powerpoint/2010/main" val="24733167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D717CE-5399-86A0-1297-8F346FC0143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B39012A-6F33-204B-8224-A57BEFB0AAD0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4E31D58-A742-7D01-E718-79713AAD8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Where people still matter…</a:t>
            </a:r>
          </a:p>
        </p:txBody>
      </p:sp>
    </p:spTree>
    <p:extLst>
      <p:ext uri="{BB962C8B-B14F-4D97-AF65-F5344CB8AC3E}">
        <p14:creationId xmlns:p14="http://schemas.microsoft.com/office/powerpoint/2010/main" val="35853745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BC55E-BE4F-C1A1-E1FA-6A3B305DA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D45342C-0972-ECAA-8C76-EEC9197E2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Where people still matter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661C41-C10C-0E7A-B8CA-5189A4A1D17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434944" y="0"/>
            <a:ext cx="7757056" cy="6858000"/>
          </a:xfrm>
          <a:prstGeom prst="rect">
            <a:avLst/>
          </a:prstGeom>
        </p:spPr>
      </p:pic>
      <p:sp>
        <p:nvSpPr>
          <p:cNvPr id="8" name="Image Fade">
            <a:extLst>
              <a:ext uri="{FF2B5EF4-FFF2-40B4-BE49-F238E27FC236}">
                <a16:creationId xmlns:a16="http://schemas.microsoft.com/office/drawing/2014/main" id="{D9423503-25A7-4DC6-BE6B-07D8F78E2957}"/>
              </a:ext>
            </a:extLst>
          </p:cNvPr>
          <p:cNvSpPr/>
          <p:nvPr/>
        </p:nvSpPr>
        <p:spPr>
          <a:xfrm>
            <a:off x="4434944" y="0"/>
            <a:ext cx="3878528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100000"/>
                </a:schemeClr>
              </a:gs>
              <a:gs pos="60000">
                <a:schemeClr val="bg1">
                  <a:alpha val="4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C01348-7311-3733-33D6-DC487A532C1B}"/>
              </a:ext>
            </a:extLst>
          </p:cNvPr>
          <p:cNvSpPr txBox="1"/>
          <p:nvPr/>
        </p:nvSpPr>
        <p:spPr>
          <a:xfrm>
            <a:off x="580397" y="1576550"/>
            <a:ext cx="511621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Learning together with someone else makes the journey easier…</a:t>
            </a:r>
          </a:p>
          <a:p>
            <a:endParaRPr lang="en-GB" sz="2800" dirty="0"/>
          </a:p>
          <a:p>
            <a:r>
              <a:rPr lang="en-GB" sz="2800" dirty="0"/>
              <a:t>Building and engaging in communities shares knowledge and skills.</a:t>
            </a:r>
          </a:p>
          <a:p>
            <a:endParaRPr lang="en-GB" sz="2800" dirty="0"/>
          </a:p>
          <a:p>
            <a:r>
              <a:rPr lang="en-GB" sz="2800" dirty="0"/>
              <a:t>Open Source by definition means that we like to share what we’ve made.</a:t>
            </a:r>
          </a:p>
        </p:txBody>
      </p:sp>
    </p:spTree>
    <p:extLst>
      <p:ext uri="{BB962C8B-B14F-4D97-AF65-F5344CB8AC3E}">
        <p14:creationId xmlns:p14="http://schemas.microsoft.com/office/powerpoint/2010/main" val="33518861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0CA06-5549-A92E-7455-964A990D6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7183307-1A98-6B80-F091-543085A4F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Where people still matter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BB7C3B-9369-238B-88DA-A67E6FC3D1B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34944" y="0"/>
            <a:ext cx="7757056" cy="6858000"/>
          </a:xfrm>
          <a:prstGeom prst="rect">
            <a:avLst/>
          </a:prstGeom>
        </p:spPr>
      </p:pic>
      <p:sp>
        <p:nvSpPr>
          <p:cNvPr id="8" name="Image Fade"/>
          <p:cNvSpPr/>
          <p:nvPr/>
        </p:nvSpPr>
        <p:spPr>
          <a:xfrm>
            <a:off x="4434944" y="0"/>
            <a:ext cx="3878528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100000"/>
                </a:schemeClr>
              </a:gs>
              <a:gs pos="60000">
                <a:schemeClr val="bg1">
                  <a:alpha val="4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D04CF9-DC71-5288-F7F3-0863FCF62D53}"/>
              </a:ext>
            </a:extLst>
          </p:cNvPr>
          <p:cNvSpPr txBox="1"/>
          <p:nvPr/>
        </p:nvSpPr>
        <p:spPr>
          <a:xfrm>
            <a:off x="580397" y="1576550"/>
            <a:ext cx="511621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The presenters here at EARL all have thought about their work, and are happy to share what worked, and what didn’t with us all. </a:t>
            </a:r>
            <a:br>
              <a:rPr lang="en-GB" sz="2800" dirty="0"/>
            </a:br>
            <a:br>
              <a:rPr lang="en-GB" sz="2800" dirty="0"/>
            </a:br>
            <a:r>
              <a:rPr lang="en-GB" sz="2800" dirty="0"/>
              <a:t>It’s not “Look how clever </a:t>
            </a:r>
            <a:r>
              <a:rPr lang="en-GB" sz="2800" b="1" i="1" dirty="0"/>
              <a:t>I </a:t>
            </a:r>
            <a:r>
              <a:rPr lang="en-GB" sz="2800" dirty="0"/>
              <a:t>am…” It’s “Let me show you what I did so you can do the same…”</a:t>
            </a:r>
          </a:p>
        </p:txBody>
      </p:sp>
    </p:spTree>
    <p:extLst>
      <p:ext uri="{BB962C8B-B14F-4D97-AF65-F5344CB8AC3E}">
        <p14:creationId xmlns:p14="http://schemas.microsoft.com/office/powerpoint/2010/main" val="7656534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6EBFC-FB0E-E926-389D-C9E861FAB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83F8E65-41DA-1A00-A745-60A3A08B7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Where people still matter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BED20B-172D-3B49-804F-EBD3E7F4F37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47603" y="0"/>
            <a:ext cx="6858000" cy="6858000"/>
          </a:xfrm>
          <a:prstGeom prst="rect">
            <a:avLst/>
          </a:prstGeom>
        </p:spPr>
      </p:pic>
      <p:sp>
        <p:nvSpPr>
          <p:cNvPr id="9" name="Image Fade"/>
          <p:cNvSpPr/>
          <p:nvPr/>
        </p:nvSpPr>
        <p:spPr>
          <a:xfrm>
            <a:off x="5147603" y="0"/>
            <a:ext cx="3429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100000"/>
                </a:schemeClr>
              </a:gs>
              <a:gs pos="60000">
                <a:schemeClr val="bg1">
                  <a:alpha val="4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4F5129-EBDC-66C7-BC8D-BC1EAFD1866F}"/>
              </a:ext>
            </a:extLst>
          </p:cNvPr>
          <p:cNvSpPr txBox="1"/>
          <p:nvPr/>
        </p:nvSpPr>
        <p:spPr>
          <a:xfrm>
            <a:off x="580397" y="1576550"/>
            <a:ext cx="511621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People are good at refactoring code and making “architectural” decisions.</a:t>
            </a:r>
          </a:p>
          <a:p>
            <a:endParaRPr lang="en-GB" sz="3200" dirty="0"/>
          </a:p>
          <a:p>
            <a:r>
              <a:rPr lang="en-GB" sz="3200" dirty="0"/>
              <a:t>Again, experience tells us what is likely to work, technical constraints, future proofing.</a:t>
            </a:r>
          </a:p>
        </p:txBody>
      </p:sp>
    </p:spTree>
    <p:extLst>
      <p:ext uri="{BB962C8B-B14F-4D97-AF65-F5344CB8AC3E}">
        <p14:creationId xmlns:p14="http://schemas.microsoft.com/office/powerpoint/2010/main" val="32433776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00D60-73DC-55A2-8EBA-E42B924B4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23FBB9-F4A5-AD67-4982-53F9B23ED5D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8" name="Image Fade"/>
          <p:cNvSpPr/>
          <p:nvPr/>
        </p:nvSpPr>
        <p:spPr>
          <a:xfrm>
            <a:off x="5334000" y="0"/>
            <a:ext cx="3429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100000"/>
                </a:schemeClr>
              </a:gs>
              <a:gs pos="60000">
                <a:schemeClr val="bg1">
                  <a:alpha val="4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62129E4-FA67-9188-C90E-5C81A3AFB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Where people still matter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032526-0D16-33B5-B7FF-D9313863E18E}"/>
              </a:ext>
            </a:extLst>
          </p:cNvPr>
          <p:cNvSpPr txBox="1"/>
          <p:nvPr/>
        </p:nvSpPr>
        <p:spPr>
          <a:xfrm>
            <a:off x="580397" y="1576550"/>
            <a:ext cx="511621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Experienced coders know what code is brittle, will be difficult to maintain, introduces technical debt.</a:t>
            </a:r>
          </a:p>
          <a:p>
            <a:endParaRPr lang="en-GB" sz="3200" dirty="0"/>
          </a:p>
          <a:p>
            <a:r>
              <a:rPr lang="en-GB" sz="3200" dirty="0"/>
              <a:t>Today’s technical debt is tomorrow’s nightmare during crunch timelines.</a:t>
            </a:r>
          </a:p>
        </p:txBody>
      </p:sp>
    </p:spTree>
    <p:extLst>
      <p:ext uri="{BB962C8B-B14F-4D97-AF65-F5344CB8AC3E}">
        <p14:creationId xmlns:p14="http://schemas.microsoft.com/office/powerpoint/2010/main" val="19311694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84CA8-5428-F3AC-BF77-FF56C318A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F69347-9E26-D142-A281-FD45A7B62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Where people still matter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FCE97F-6AF4-D066-10DC-464F62B7DE1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5315493" y="1187415"/>
            <a:ext cx="6876507" cy="4483170"/>
          </a:xfrm>
          <a:prstGeom prst="rect">
            <a:avLst/>
          </a:prstGeom>
        </p:spPr>
      </p:pic>
      <p:sp>
        <p:nvSpPr>
          <p:cNvPr id="8" name="Image Fade"/>
          <p:cNvSpPr/>
          <p:nvPr/>
        </p:nvSpPr>
        <p:spPr>
          <a:xfrm>
            <a:off x="5140793" y="1187415"/>
            <a:ext cx="3438253" cy="448317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100000"/>
                </a:schemeClr>
              </a:gs>
              <a:gs pos="60000">
                <a:schemeClr val="bg1">
                  <a:alpha val="4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D71421-F829-023A-6338-FC961AD42ADF}"/>
              </a:ext>
            </a:extLst>
          </p:cNvPr>
          <p:cNvSpPr txBox="1"/>
          <p:nvPr/>
        </p:nvSpPr>
        <p:spPr>
          <a:xfrm>
            <a:off x="580397" y="1576550"/>
            <a:ext cx="511621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People know UI / UX.</a:t>
            </a:r>
          </a:p>
          <a:p>
            <a:endParaRPr lang="en-GB" sz="3200" dirty="0"/>
          </a:p>
          <a:p>
            <a:r>
              <a:rPr lang="en-GB" sz="3200" dirty="0"/>
              <a:t>How can I make this easier? How do I make it obvious what to do next?</a:t>
            </a:r>
          </a:p>
          <a:p>
            <a:endParaRPr lang="en-GB" sz="3200" dirty="0"/>
          </a:p>
          <a:p>
            <a:r>
              <a:rPr lang="en-GB" sz="3200" dirty="0"/>
              <a:t>Also, “Wow this is ugly and complicated… we need to do better.”</a:t>
            </a:r>
          </a:p>
        </p:txBody>
      </p:sp>
    </p:spTree>
    <p:extLst>
      <p:ext uri="{BB962C8B-B14F-4D97-AF65-F5344CB8AC3E}">
        <p14:creationId xmlns:p14="http://schemas.microsoft.com/office/powerpoint/2010/main" val="16786900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AB2AB-5D40-C31A-9E38-98C7EE43A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74D996-0F88-016F-1FCC-0A2559C9327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4994" y="0"/>
            <a:ext cx="8587006" cy="6858000"/>
          </a:xfrm>
          <a:prstGeom prst="rect">
            <a:avLst/>
          </a:prstGeom>
        </p:spPr>
      </p:pic>
      <p:sp>
        <p:nvSpPr>
          <p:cNvPr id="8" name="Image Fade"/>
          <p:cNvSpPr/>
          <p:nvPr/>
        </p:nvSpPr>
        <p:spPr>
          <a:xfrm>
            <a:off x="3604994" y="0"/>
            <a:ext cx="4293503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100000"/>
                </a:schemeClr>
              </a:gs>
              <a:gs pos="60000">
                <a:schemeClr val="bg1">
                  <a:alpha val="4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B262F3B-0470-CBA3-B496-F1AA55E03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Where people still matter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3B9451-596F-4201-7C00-4D30078C4535}"/>
              </a:ext>
            </a:extLst>
          </p:cNvPr>
          <p:cNvSpPr txBox="1"/>
          <p:nvPr/>
        </p:nvSpPr>
        <p:spPr>
          <a:xfrm>
            <a:off x="580397" y="1576550"/>
            <a:ext cx="511621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People write documentation for people.</a:t>
            </a:r>
          </a:p>
          <a:p>
            <a:endParaRPr lang="en-GB" sz="3200" dirty="0"/>
          </a:p>
          <a:p>
            <a:r>
              <a:rPr lang="en-GB" sz="3200" b="1" i="1" dirty="0"/>
              <a:t>Please write documentation for people.</a:t>
            </a:r>
          </a:p>
          <a:p>
            <a:endParaRPr lang="en-GB" sz="3200" dirty="0"/>
          </a:p>
          <a:p>
            <a:r>
              <a:rPr lang="en-GB" sz="3200" i="1" dirty="0"/>
              <a:t>I’m not sure who AI writes documentation for… Unnecessarily verbose.</a:t>
            </a:r>
          </a:p>
        </p:txBody>
      </p:sp>
    </p:spTree>
    <p:extLst>
      <p:ext uri="{BB962C8B-B14F-4D97-AF65-F5344CB8AC3E}">
        <p14:creationId xmlns:p14="http://schemas.microsoft.com/office/powerpoint/2010/main" val="16749434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9D9CC-7E08-C264-D34A-DC57615DA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B51B9DB-3B8C-75E1-7BF2-ECFF45C5B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Where people still matter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03D884-CD4E-4E52-F2B9-3A59F178C89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34944" y="0"/>
            <a:ext cx="7757056" cy="6858000"/>
          </a:xfrm>
          <a:prstGeom prst="rect">
            <a:avLst/>
          </a:prstGeom>
        </p:spPr>
      </p:pic>
      <p:sp>
        <p:nvSpPr>
          <p:cNvPr id="8" name="Image Fade">
            <a:extLst>
              <a:ext uri="{FF2B5EF4-FFF2-40B4-BE49-F238E27FC236}">
                <a16:creationId xmlns:a16="http://schemas.microsoft.com/office/drawing/2014/main" id="{01D35DAE-D895-5B4A-7B4D-1EF7F68D55BE}"/>
              </a:ext>
            </a:extLst>
          </p:cNvPr>
          <p:cNvSpPr/>
          <p:nvPr/>
        </p:nvSpPr>
        <p:spPr>
          <a:xfrm>
            <a:off x="4434944" y="0"/>
            <a:ext cx="3878528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100000"/>
                </a:schemeClr>
              </a:gs>
              <a:gs pos="60000">
                <a:schemeClr val="bg1">
                  <a:alpha val="4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EE5CC9-F6EF-D8E1-A8E3-3E1D19A85B40}"/>
              </a:ext>
            </a:extLst>
          </p:cNvPr>
          <p:cNvSpPr txBox="1"/>
          <p:nvPr/>
        </p:nvSpPr>
        <p:spPr>
          <a:xfrm>
            <a:off x="580397" y="1576550"/>
            <a:ext cx="511621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People tend to have REALLY GOOD curated lists of </a:t>
            </a:r>
            <a:r>
              <a:rPr lang="en-GB" sz="2800" dirty="0">
                <a:hlinkClick r:id="rId3"/>
              </a:rPr>
              <a:t>blog posts</a:t>
            </a:r>
            <a:r>
              <a:rPr lang="en-GB" sz="2800" dirty="0"/>
              <a:t>, </a:t>
            </a:r>
            <a:r>
              <a:rPr lang="en-GB" sz="2800" dirty="0">
                <a:hlinkClick r:id="rId4"/>
              </a:rPr>
              <a:t>podcasts</a:t>
            </a:r>
            <a:r>
              <a:rPr lang="en-GB" sz="2800" dirty="0"/>
              <a:t>, </a:t>
            </a:r>
            <a:r>
              <a:rPr lang="en-GB" sz="2800" dirty="0">
                <a:hlinkClick r:id="rId5"/>
              </a:rPr>
              <a:t>writers</a:t>
            </a:r>
            <a:r>
              <a:rPr lang="en-GB" sz="2800" dirty="0"/>
              <a:t>, </a:t>
            </a:r>
            <a:r>
              <a:rPr lang="en-GB" sz="2800" dirty="0">
                <a:hlinkClick r:id="rId6"/>
              </a:rPr>
              <a:t>people doing good and creative work</a:t>
            </a:r>
            <a:r>
              <a:rPr lang="en-GB" sz="2800" dirty="0"/>
              <a:t>, </a:t>
            </a:r>
            <a:r>
              <a:rPr lang="en-GB" sz="2800" dirty="0">
                <a:hlinkClick r:id="rId7"/>
              </a:rPr>
              <a:t>inspiring content</a:t>
            </a:r>
            <a:r>
              <a:rPr lang="en-GB" sz="2800" dirty="0"/>
              <a:t>.</a:t>
            </a:r>
          </a:p>
          <a:p>
            <a:endParaRPr lang="en-GB" sz="2800" dirty="0"/>
          </a:p>
          <a:p>
            <a:r>
              <a:rPr lang="en-GB" sz="2800" dirty="0"/>
              <a:t>Conversations over coffee at conference are often the best bits…</a:t>
            </a:r>
          </a:p>
        </p:txBody>
      </p:sp>
    </p:spTree>
    <p:extLst>
      <p:ext uri="{BB962C8B-B14F-4D97-AF65-F5344CB8AC3E}">
        <p14:creationId xmlns:p14="http://schemas.microsoft.com/office/powerpoint/2010/main" val="16588983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C531E-2A0B-9A67-20F2-8FDF89034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F92A06-070B-34FC-FC9A-0BE2D8E184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B39012A-6F33-204B-8224-A57BEFB0AAD0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B85C88B-853D-C595-F8A1-8993BE550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call to action…</a:t>
            </a:r>
          </a:p>
        </p:txBody>
      </p:sp>
    </p:spTree>
    <p:extLst>
      <p:ext uri="{BB962C8B-B14F-4D97-AF65-F5344CB8AC3E}">
        <p14:creationId xmlns:p14="http://schemas.microsoft.com/office/powerpoint/2010/main" val="3616719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D22F2-E6C2-F007-A503-BB0A5EB82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0BC06C-6E81-095B-7B65-E00E9B4335A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8" name="Image Fade">
            <a:extLst>
              <a:ext uri="{FF2B5EF4-FFF2-40B4-BE49-F238E27FC236}">
                <a16:creationId xmlns:a16="http://schemas.microsoft.com/office/drawing/2014/main" id="{5F6641DA-46EA-0650-F06A-191B8C227871}"/>
              </a:ext>
            </a:extLst>
          </p:cNvPr>
          <p:cNvSpPr/>
          <p:nvPr/>
        </p:nvSpPr>
        <p:spPr>
          <a:xfrm>
            <a:off x="5334000" y="0"/>
            <a:ext cx="3429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100000"/>
                </a:schemeClr>
              </a:gs>
              <a:gs pos="60000">
                <a:schemeClr val="bg1">
                  <a:alpha val="4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70D5976-CBD4-F768-3566-7826E952A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What can I do?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CA91E6-B42A-E089-5C4A-FC51A8F6A3C9}"/>
              </a:ext>
            </a:extLst>
          </p:cNvPr>
          <p:cNvSpPr txBox="1"/>
          <p:nvPr/>
        </p:nvSpPr>
        <p:spPr>
          <a:xfrm>
            <a:off x="580397" y="1576550"/>
            <a:ext cx="511621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AI models are built off open source repositories and contributions.</a:t>
            </a:r>
            <a:br>
              <a:rPr lang="en-GB" sz="2800" dirty="0"/>
            </a:br>
            <a:br>
              <a:rPr lang="en-GB" sz="2800" dirty="0"/>
            </a:br>
            <a:r>
              <a:rPr lang="en-GB" sz="2800" dirty="0"/>
              <a:t>We need to keep the quality of that code base </a:t>
            </a:r>
            <a:r>
              <a:rPr lang="en-GB" sz="2800" b="1" i="1" dirty="0"/>
              <a:t>HIGH</a:t>
            </a:r>
            <a:r>
              <a:rPr lang="en-GB" sz="2800" dirty="0"/>
              <a:t>. AI slop in code and documentation “poisons the well”.</a:t>
            </a:r>
          </a:p>
          <a:p>
            <a:endParaRPr lang="en-GB" sz="2800" dirty="0"/>
          </a:p>
          <a:p>
            <a:r>
              <a:rPr lang="en-GB" sz="2800" dirty="0"/>
              <a:t>Contribute. Improve. Share. </a:t>
            </a:r>
          </a:p>
        </p:txBody>
      </p:sp>
    </p:spTree>
    <p:extLst>
      <p:ext uri="{BB962C8B-B14F-4D97-AF65-F5344CB8AC3E}">
        <p14:creationId xmlns:p14="http://schemas.microsoft.com/office/powerpoint/2010/main" val="26407146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6EBFC-FB0E-E926-389D-C9E861FAB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83F8E65-41DA-1A00-A745-60A3A08B7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What can I do?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BED20B-172D-3B49-804F-EBD3E7F4F37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47603" y="0"/>
            <a:ext cx="6858000" cy="6858000"/>
          </a:xfrm>
          <a:prstGeom prst="rect">
            <a:avLst/>
          </a:prstGeom>
        </p:spPr>
      </p:pic>
      <p:sp>
        <p:nvSpPr>
          <p:cNvPr id="9" name="Image Fade"/>
          <p:cNvSpPr/>
          <p:nvPr/>
        </p:nvSpPr>
        <p:spPr>
          <a:xfrm>
            <a:off x="5147603" y="0"/>
            <a:ext cx="3429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100000"/>
                </a:schemeClr>
              </a:gs>
              <a:gs pos="60000">
                <a:schemeClr val="bg1">
                  <a:alpha val="4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4F5129-EBDC-66C7-BC8D-BC1EAFD1866F}"/>
              </a:ext>
            </a:extLst>
          </p:cNvPr>
          <p:cNvSpPr txBox="1"/>
          <p:nvPr/>
        </p:nvSpPr>
        <p:spPr>
          <a:xfrm>
            <a:off x="580397" y="1225816"/>
            <a:ext cx="511621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Get better at making good choices… Stamp out technical debt. </a:t>
            </a:r>
          </a:p>
          <a:p>
            <a:endParaRPr lang="en-GB" sz="3200" dirty="0"/>
          </a:p>
          <a:p>
            <a:r>
              <a:rPr lang="en-GB" sz="3200" dirty="0"/>
              <a:t>Don’t accept “quick and dirty”. There’s no need anymore. </a:t>
            </a:r>
          </a:p>
          <a:p>
            <a:endParaRPr lang="en-GB" sz="3200" dirty="0"/>
          </a:p>
          <a:p>
            <a:r>
              <a:rPr lang="en-GB" sz="3200" dirty="0"/>
              <a:t>Define “What A Good One Looks Like” Skill for the AI…</a:t>
            </a:r>
          </a:p>
        </p:txBody>
      </p:sp>
    </p:spTree>
    <p:extLst>
      <p:ext uri="{BB962C8B-B14F-4D97-AF65-F5344CB8AC3E}">
        <p14:creationId xmlns:p14="http://schemas.microsoft.com/office/powerpoint/2010/main" val="8560457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1F86E-E9DD-CCD1-97B0-57F8B2E67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92ED741-6F0A-A890-56CB-555E95714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What can </a:t>
            </a:r>
            <a:r>
              <a:rPr lang="en-GB" i="1" dirty="0"/>
              <a:t>I</a:t>
            </a:r>
            <a:r>
              <a:rPr lang="en-GB" dirty="0"/>
              <a:t> do?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699DD0-B4F1-73B7-7AC7-02ADA3CFBA8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434944" y="0"/>
            <a:ext cx="7757056" cy="6858000"/>
          </a:xfrm>
          <a:prstGeom prst="rect">
            <a:avLst/>
          </a:prstGeom>
        </p:spPr>
      </p:pic>
      <p:sp>
        <p:nvSpPr>
          <p:cNvPr id="8" name="Image Fade"/>
          <p:cNvSpPr/>
          <p:nvPr/>
        </p:nvSpPr>
        <p:spPr>
          <a:xfrm>
            <a:off x="4434944" y="0"/>
            <a:ext cx="3878528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100000"/>
                </a:schemeClr>
              </a:gs>
              <a:gs pos="60000">
                <a:schemeClr val="bg1">
                  <a:alpha val="4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E5DC3C-202B-EF69-B3A1-92A7CD04C7EB}"/>
              </a:ext>
            </a:extLst>
          </p:cNvPr>
          <p:cNvSpPr txBox="1"/>
          <p:nvPr/>
        </p:nvSpPr>
        <p:spPr>
          <a:xfrm>
            <a:off x="580397" y="1576550"/>
            <a:ext cx="511621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Be the person who helps someone else to learn.</a:t>
            </a:r>
          </a:p>
          <a:p>
            <a:endParaRPr lang="en-GB" sz="2800" dirty="0"/>
          </a:p>
          <a:p>
            <a:r>
              <a:rPr lang="en-GB" sz="2800" dirty="0"/>
              <a:t>Share what you know &amp; share your experience.</a:t>
            </a:r>
          </a:p>
          <a:p>
            <a:endParaRPr lang="en-GB" sz="2800" dirty="0"/>
          </a:p>
          <a:p>
            <a:r>
              <a:rPr lang="en-GB" sz="2800" b="1" i="1" dirty="0"/>
              <a:t>YOU DO NOT NEED TO BE “EXPERT” LEVEL TO DO THIS!</a:t>
            </a:r>
          </a:p>
          <a:p>
            <a:r>
              <a:rPr lang="en-GB" sz="2800" b="1" i="1" dirty="0"/>
              <a:t>"LEARN OUT LOUD”</a:t>
            </a:r>
          </a:p>
        </p:txBody>
      </p:sp>
    </p:spTree>
    <p:extLst>
      <p:ext uri="{BB962C8B-B14F-4D97-AF65-F5344CB8AC3E}">
        <p14:creationId xmlns:p14="http://schemas.microsoft.com/office/powerpoint/2010/main" val="37447218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0CA06-5549-A92E-7455-964A990D6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7183307-1A98-6B80-F091-543085A4F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What can </a:t>
            </a:r>
            <a:r>
              <a:rPr lang="en-GB" b="0" i="1" dirty="0"/>
              <a:t>I</a:t>
            </a:r>
            <a:r>
              <a:rPr lang="en-GB" dirty="0"/>
              <a:t> do?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BB7C3B-9369-238B-88DA-A67E6FC3D1B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34944" y="0"/>
            <a:ext cx="7757056" cy="6858000"/>
          </a:xfrm>
          <a:prstGeom prst="rect">
            <a:avLst/>
          </a:prstGeom>
        </p:spPr>
      </p:pic>
      <p:sp>
        <p:nvSpPr>
          <p:cNvPr id="8" name="Image Fade"/>
          <p:cNvSpPr/>
          <p:nvPr/>
        </p:nvSpPr>
        <p:spPr>
          <a:xfrm>
            <a:off x="4434944" y="0"/>
            <a:ext cx="3878528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100000"/>
                </a:schemeClr>
              </a:gs>
              <a:gs pos="60000">
                <a:schemeClr val="bg1">
                  <a:alpha val="4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5B4FDC-90A5-F618-FC15-371221E2A568}"/>
              </a:ext>
            </a:extLst>
          </p:cNvPr>
          <p:cNvSpPr txBox="1"/>
          <p:nvPr/>
        </p:nvSpPr>
        <p:spPr>
          <a:xfrm>
            <a:off x="580397" y="1576550"/>
            <a:ext cx="511621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Our early experience with email distribution lists for R help was pretty unforgiving… </a:t>
            </a:r>
            <a:br>
              <a:rPr lang="en-GB" sz="2800" dirty="0"/>
            </a:br>
            <a:br>
              <a:rPr lang="en-GB" sz="2800" dirty="0"/>
            </a:br>
            <a:r>
              <a:rPr lang="en-GB" sz="2800" dirty="0"/>
              <a:t>We’ve grown to do better and be more helpful. Let’s continue that… </a:t>
            </a:r>
          </a:p>
          <a:p>
            <a:endParaRPr lang="en-GB" sz="2800" dirty="0"/>
          </a:p>
          <a:p>
            <a:r>
              <a:rPr lang="en-GB" sz="2800" dirty="0"/>
              <a:t>Put yourself in a beginner’s shoes… </a:t>
            </a:r>
            <a:r>
              <a:rPr lang="en-GB" sz="2800" b="1" i="1" dirty="0"/>
              <a:t>WHY</a:t>
            </a:r>
            <a:r>
              <a:rPr lang="en-GB" sz="2800" dirty="0"/>
              <a:t> are they asking that question?</a:t>
            </a:r>
          </a:p>
        </p:txBody>
      </p:sp>
    </p:spTree>
    <p:extLst>
      <p:ext uri="{BB962C8B-B14F-4D97-AF65-F5344CB8AC3E}">
        <p14:creationId xmlns:p14="http://schemas.microsoft.com/office/powerpoint/2010/main" val="42690814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037BC-8187-63F2-9FF4-ACBF39826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D0025A6-3156-B0A7-BCAF-182CB2E01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AI good practices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6E5284-C3B8-ED46-8F8E-843293C699B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34944" y="0"/>
            <a:ext cx="7757056" cy="6858000"/>
          </a:xfrm>
          <a:prstGeom prst="rect">
            <a:avLst/>
          </a:prstGeom>
        </p:spPr>
      </p:pic>
      <p:sp>
        <p:nvSpPr>
          <p:cNvPr id="8" name="Image Fade">
            <a:extLst>
              <a:ext uri="{FF2B5EF4-FFF2-40B4-BE49-F238E27FC236}">
                <a16:creationId xmlns:a16="http://schemas.microsoft.com/office/drawing/2014/main" id="{BC02F08C-8AB8-922B-193A-B4D8BD42F208}"/>
              </a:ext>
            </a:extLst>
          </p:cNvPr>
          <p:cNvSpPr/>
          <p:nvPr/>
        </p:nvSpPr>
        <p:spPr>
          <a:xfrm>
            <a:off x="4434944" y="0"/>
            <a:ext cx="3878528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100000"/>
                </a:schemeClr>
              </a:gs>
              <a:gs pos="60000">
                <a:schemeClr val="bg1">
                  <a:alpha val="4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DB5033-AAF1-4FD6-561F-DFF4843D4888}"/>
              </a:ext>
            </a:extLst>
          </p:cNvPr>
          <p:cNvSpPr txBox="1"/>
          <p:nvPr/>
        </p:nvSpPr>
        <p:spPr>
          <a:xfrm>
            <a:off x="580397" y="1576550"/>
            <a:ext cx="511621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Go slower</a:t>
            </a:r>
          </a:p>
          <a:p>
            <a:endParaRPr lang="en-GB" sz="2800" dirty="0"/>
          </a:p>
          <a:p>
            <a:r>
              <a:rPr lang="en-GB" sz="2800" dirty="0"/>
              <a:t>Spend more time in planning and thinking</a:t>
            </a:r>
          </a:p>
          <a:p>
            <a:endParaRPr lang="en-GB" sz="2800" dirty="0"/>
          </a:p>
          <a:p>
            <a:r>
              <a:rPr lang="en-GB" sz="2800" dirty="0"/>
              <a:t>Capture that design process (as markdown)</a:t>
            </a:r>
          </a:p>
          <a:p>
            <a:endParaRPr lang="en-GB" sz="2800" dirty="0"/>
          </a:p>
          <a:p>
            <a:r>
              <a:rPr lang="en-GB" sz="2800" dirty="0"/>
              <a:t>Don’t rush to write code</a:t>
            </a:r>
          </a:p>
        </p:txBody>
      </p:sp>
    </p:spTree>
    <p:extLst>
      <p:ext uri="{BB962C8B-B14F-4D97-AF65-F5344CB8AC3E}">
        <p14:creationId xmlns:p14="http://schemas.microsoft.com/office/powerpoint/2010/main" val="41833094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D1DE7-CA31-ED45-E9C4-ED0DE74E1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B57357B-33AA-E2FA-29DC-EFF3439E6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396" y="615426"/>
            <a:ext cx="4017729" cy="405454"/>
          </a:xfrm>
        </p:spPr>
        <p:txBody>
          <a:bodyPr>
            <a:normAutofit fontScale="90000"/>
          </a:bodyPr>
          <a:lstStyle/>
          <a:p>
            <a:r>
              <a:rPr lang="en-GB" sz="2400" dirty="0"/>
              <a:t>Personal development in the age of AI</a:t>
            </a: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FA98A2-3976-8C3D-D4DB-BA00346422E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34944" y="0"/>
            <a:ext cx="7757056" cy="6858000"/>
          </a:xfrm>
          <a:prstGeom prst="rect">
            <a:avLst/>
          </a:prstGeom>
        </p:spPr>
      </p:pic>
      <p:sp>
        <p:nvSpPr>
          <p:cNvPr id="8" name="Image Fade">
            <a:extLst>
              <a:ext uri="{FF2B5EF4-FFF2-40B4-BE49-F238E27FC236}">
                <a16:creationId xmlns:a16="http://schemas.microsoft.com/office/drawing/2014/main" id="{CA8735F9-268A-3BDB-558E-BD69E5BABAD9}"/>
              </a:ext>
            </a:extLst>
          </p:cNvPr>
          <p:cNvSpPr/>
          <p:nvPr/>
        </p:nvSpPr>
        <p:spPr>
          <a:xfrm>
            <a:off x="4434944" y="0"/>
            <a:ext cx="3878528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100000"/>
                </a:schemeClr>
              </a:gs>
              <a:gs pos="60000">
                <a:schemeClr val="bg1">
                  <a:alpha val="4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F8988C-5897-9F78-2673-34ED6397AB8F}"/>
              </a:ext>
            </a:extLst>
          </p:cNvPr>
          <p:cNvSpPr txBox="1"/>
          <p:nvPr/>
        </p:nvSpPr>
        <p:spPr>
          <a:xfrm>
            <a:off x="580397" y="1576550"/>
            <a:ext cx="511621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hlinkClick r:id="rId3"/>
              </a:rPr>
              <a:t>Remind yourself periodically how to do it “by hand”.</a:t>
            </a:r>
            <a:endParaRPr lang="en-GB" sz="2400" dirty="0"/>
          </a:p>
          <a:p>
            <a:endParaRPr lang="en-GB" sz="2400" dirty="0"/>
          </a:p>
          <a:p>
            <a:r>
              <a:rPr lang="en-GB" sz="2400" dirty="0"/>
              <a:t>Cat Hicks has written skills to help you </a:t>
            </a:r>
            <a:r>
              <a:rPr lang="en-GB" sz="2400" b="1" i="1" dirty="0">
                <a:hlinkClick r:id="rId4"/>
              </a:rPr>
              <a:t>learn</a:t>
            </a:r>
            <a:r>
              <a:rPr lang="en-GB" sz="2400" dirty="0">
                <a:hlinkClick r:id="rId4"/>
              </a:rPr>
              <a:t> </a:t>
            </a:r>
            <a:r>
              <a:rPr lang="en-GB" sz="2400" b="1" i="1" dirty="0">
                <a:hlinkClick r:id="rId4"/>
              </a:rPr>
              <a:t>as you use AI</a:t>
            </a:r>
            <a:endParaRPr lang="en-GB" sz="2400" dirty="0"/>
          </a:p>
          <a:p>
            <a:endParaRPr lang="en-GB" sz="2400" dirty="0"/>
          </a:p>
          <a:p>
            <a:r>
              <a:rPr lang="en-GB" sz="2400" dirty="0"/>
              <a:t>Keep up to date with R / Python e.g. </a:t>
            </a:r>
            <a:r>
              <a:rPr lang="en-GB" sz="2400" dirty="0">
                <a:hlinkClick r:id="rId5"/>
              </a:rPr>
              <a:t>R Weekly</a:t>
            </a:r>
            <a:endParaRPr lang="en-GB" sz="2400" dirty="0"/>
          </a:p>
          <a:p>
            <a:endParaRPr lang="en-GB" sz="2400" dirty="0"/>
          </a:p>
          <a:p>
            <a:r>
              <a:rPr lang="en-GB" sz="2400" dirty="0"/>
              <a:t>Learn more about </a:t>
            </a:r>
            <a:r>
              <a:rPr lang="en-GB" sz="2400" dirty="0">
                <a:hlinkClick r:id="rId6"/>
              </a:rPr>
              <a:t>AI prompting, Skills, Agentic approaches</a:t>
            </a:r>
            <a:r>
              <a:rPr lang="en-GB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404258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9D9CC-7E08-C264-D34A-DC57615DA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B51B9DB-3B8C-75E1-7BF2-ECFF45C5B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397" y="615426"/>
            <a:ext cx="3669386" cy="405454"/>
          </a:xfrm>
        </p:spPr>
        <p:txBody>
          <a:bodyPr>
            <a:normAutofit fontScale="90000"/>
          </a:bodyPr>
          <a:lstStyle/>
          <a:p>
            <a:r>
              <a:rPr lang="en-GB" dirty="0"/>
              <a:t>Where people still matter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03D884-CD4E-4E52-F2B9-3A59F178C89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34944" y="0"/>
            <a:ext cx="7757056" cy="6858000"/>
          </a:xfrm>
          <a:prstGeom prst="rect">
            <a:avLst/>
          </a:prstGeom>
        </p:spPr>
      </p:pic>
      <p:sp>
        <p:nvSpPr>
          <p:cNvPr id="8" name="Image Fade">
            <a:extLst>
              <a:ext uri="{FF2B5EF4-FFF2-40B4-BE49-F238E27FC236}">
                <a16:creationId xmlns:a16="http://schemas.microsoft.com/office/drawing/2014/main" id="{01D35DAE-D895-5B4A-7B4D-1EF7F68D55BE}"/>
              </a:ext>
            </a:extLst>
          </p:cNvPr>
          <p:cNvSpPr/>
          <p:nvPr/>
        </p:nvSpPr>
        <p:spPr>
          <a:xfrm>
            <a:off x="4434944" y="0"/>
            <a:ext cx="3878528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100000"/>
                </a:schemeClr>
              </a:gs>
              <a:gs pos="60000">
                <a:schemeClr val="bg1">
                  <a:alpha val="4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EE5CC9-F6EF-D8E1-A8E3-3E1D19A85B40}"/>
              </a:ext>
            </a:extLst>
          </p:cNvPr>
          <p:cNvSpPr txBox="1"/>
          <p:nvPr/>
        </p:nvSpPr>
        <p:spPr>
          <a:xfrm>
            <a:off x="580397" y="1576550"/>
            <a:ext cx="511621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Be part of the </a:t>
            </a:r>
            <a:r>
              <a:rPr lang="en-GB" sz="2800" b="1" i="1" dirty="0"/>
              <a:t>community</a:t>
            </a:r>
            <a:r>
              <a:rPr lang="en-GB" sz="2800" dirty="0"/>
              <a:t>.</a:t>
            </a:r>
          </a:p>
          <a:p>
            <a:endParaRPr lang="en-GB" sz="2800" dirty="0"/>
          </a:p>
          <a:p>
            <a:r>
              <a:rPr lang="en-GB" sz="2800" dirty="0"/>
              <a:t>Help grow that </a:t>
            </a:r>
            <a:r>
              <a:rPr lang="en-GB" sz="2800" b="1" i="1" dirty="0"/>
              <a:t>community.</a:t>
            </a:r>
          </a:p>
          <a:p>
            <a:endParaRPr lang="en-GB" sz="2800" b="1" i="1" dirty="0"/>
          </a:p>
          <a:p>
            <a:r>
              <a:rPr lang="en-GB" sz="2800" dirty="0"/>
              <a:t>Be part of the future of R…</a:t>
            </a:r>
          </a:p>
          <a:p>
            <a:r>
              <a:rPr lang="en-GB" sz="2800" dirty="0"/>
              <a:t>I’d like it to still be relevant in another 30 years….</a:t>
            </a:r>
          </a:p>
        </p:txBody>
      </p:sp>
    </p:spTree>
    <p:extLst>
      <p:ext uri="{BB962C8B-B14F-4D97-AF65-F5344CB8AC3E}">
        <p14:creationId xmlns:p14="http://schemas.microsoft.com/office/powerpoint/2010/main" val="17824437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1B004B0-BD6F-E091-5648-00D0D80DC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11500" dirty="0"/>
              <a:t>THANK YOU!</a:t>
            </a:r>
            <a:br>
              <a:rPr lang="en-GB" dirty="0"/>
            </a:br>
            <a:br>
              <a:rPr lang="en-GB" dirty="0"/>
            </a:br>
            <a:r>
              <a:rPr lang="en-GB" sz="6000" dirty="0"/>
              <a:t>And thanks to Datacove for the invitation…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DBC2D0-7EB6-D6B9-2F8D-4AB2120EED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B39012A-6F33-204B-8224-A57BEFB0AAD0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500558"/>
      </p:ext>
    </p:extLst>
  </p:cSld>
  <p:clrMapOvr>
    <a:masterClrMapping/>
  </p:clrMapOvr>
</p:sld>
</file>

<file path=ppt/theme/theme1.xml><?xml version="1.0" encoding="utf-8"?>
<a:theme xmlns:a="http://schemas.openxmlformats.org/drawingml/2006/main" name="COVER">
  <a:themeElements>
    <a:clrScheme name="Pfizer Color Theme">
      <a:dk1>
        <a:srgbClr val="000000"/>
      </a:dk1>
      <a:lt1>
        <a:srgbClr val="FFFFFF"/>
      </a:lt1>
      <a:dk2>
        <a:srgbClr val="000067"/>
      </a:dk2>
      <a:lt2>
        <a:srgbClr val="E0E0E0"/>
      </a:lt2>
      <a:accent1>
        <a:srgbClr val="0000C9"/>
      </a:accent1>
      <a:accent2>
        <a:srgbClr val="0095FF"/>
      </a:accent2>
      <a:accent3>
        <a:srgbClr val="AEE3FF"/>
      </a:accent3>
      <a:accent4>
        <a:srgbClr val="68D1FF"/>
      </a:accent4>
      <a:accent5>
        <a:srgbClr val="00B7A5"/>
      </a:accent5>
      <a:accent6>
        <a:srgbClr val="A68AFF"/>
      </a:accent6>
      <a:hlink>
        <a:srgbClr val="0095FF"/>
      </a:hlink>
      <a:folHlink>
        <a:srgbClr val="0000C9"/>
      </a:folHlink>
    </a:clrScheme>
    <a:fontScheme name="Pfizer Fonts">
      <a:majorFont>
        <a:latin typeface="Pfizer Tomorrow"/>
        <a:ea typeface=""/>
        <a:cs typeface=""/>
      </a:majorFont>
      <a:minorFont>
        <a:latin typeface="Pfizer Diatype Office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SECTION BREAKERS">
  <a:themeElements>
    <a:clrScheme name="Pfizer Color Theme">
      <a:dk1>
        <a:srgbClr val="000000"/>
      </a:dk1>
      <a:lt1>
        <a:srgbClr val="FFFFFF"/>
      </a:lt1>
      <a:dk2>
        <a:srgbClr val="000067"/>
      </a:dk2>
      <a:lt2>
        <a:srgbClr val="E0E0E0"/>
      </a:lt2>
      <a:accent1>
        <a:srgbClr val="0000C9"/>
      </a:accent1>
      <a:accent2>
        <a:srgbClr val="0095FF"/>
      </a:accent2>
      <a:accent3>
        <a:srgbClr val="AEE3FF"/>
      </a:accent3>
      <a:accent4>
        <a:srgbClr val="68D1FF"/>
      </a:accent4>
      <a:accent5>
        <a:srgbClr val="00B7A5"/>
      </a:accent5>
      <a:accent6>
        <a:srgbClr val="A68AFF"/>
      </a:accent6>
      <a:hlink>
        <a:srgbClr val="0095FF"/>
      </a:hlink>
      <a:folHlink>
        <a:srgbClr val="0000C9"/>
      </a:folHlink>
    </a:clrScheme>
    <a:fontScheme name="Pfizer Fonts">
      <a:majorFont>
        <a:latin typeface="Pfizer Tomorrow"/>
        <a:ea typeface=""/>
        <a:cs typeface=""/>
      </a:majorFont>
      <a:minorFont>
        <a:latin typeface="Pfizer Diatype Office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CHARTS AND OVERVIEWS">
  <a:themeElements>
    <a:clrScheme name="Pfizer Color Theme">
      <a:dk1>
        <a:srgbClr val="000000"/>
      </a:dk1>
      <a:lt1>
        <a:srgbClr val="FFFFFF"/>
      </a:lt1>
      <a:dk2>
        <a:srgbClr val="000067"/>
      </a:dk2>
      <a:lt2>
        <a:srgbClr val="E0E0E0"/>
      </a:lt2>
      <a:accent1>
        <a:srgbClr val="0000C9"/>
      </a:accent1>
      <a:accent2>
        <a:srgbClr val="0095FF"/>
      </a:accent2>
      <a:accent3>
        <a:srgbClr val="AEE3FF"/>
      </a:accent3>
      <a:accent4>
        <a:srgbClr val="68D1FF"/>
      </a:accent4>
      <a:accent5>
        <a:srgbClr val="00B7A5"/>
      </a:accent5>
      <a:accent6>
        <a:srgbClr val="A68AFF"/>
      </a:accent6>
      <a:hlink>
        <a:srgbClr val="0095FF"/>
      </a:hlink>
      <a:folHlink>
        <a:srgbClr val="0000C9"/>
      </a:folHlink>
    </a:clrScheme>
    <a:fontScheme name="Pfizer Fonts">
      <a:majorFont>
        <a:latin typeface="Pfizer Tomorrow"/>
        <a:ea typeface=""/>
        <a:cs typeface=""/>
      </a:majorFont>
      <a:minorFont>
        <a:latin typeface="Pfizer Diatype Office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BLANK SLIDES">
  <a:themeElements>
    <a:clrScheme name="Pfizer Color Theme">
      <a:dk1>
        <a:srgbClr val="000000"/>
      </a:dk1>
      <a:lt1>
        <a:srgbClr val="FFFFFF"/>
      </a:lt1>
      <a:dk2>
        <a:srgbClr val="000067"/>
      </a:dk2>
      <a:lt2>
        <a:srgbClr val="E0E0E0"/>
      </a:lt2>
      <a:accent1>
        <a:srgbClr val="0000C9"/>
      </a:accent1>
      <a:accent2>
        <a:srgbClr val="0095FF"/>
      </a:accent2>
      <a:accent3>
        <a:srgbClr val="AEE3FF"/>
      </a:accent3>
      <a:accent4>
        <a:srgbClr val="68D1FF"/>
      </a:accent4>
      <a:accent5>
        <a:srgbClr val="00B7A5"/>
      </a:accent5>
      <a:accent6>
        <a:srgbClr val="A68AFF"/>
      </a:accent6>
      <a:hlink>
        <a:srgbClr val="0095FF"/>
      </a:hlink>
      <a:folHlink>
        <a:srgbClr val="0000C9"/>
      </a:folHlink>
    </a:clrScheme>
    <a:fontScheme name="Pfizer Fonts">
      <a:majorFont>
        <a:latin typeface="Pfizer Tomorrow"/>
        <a:ea typeface=""/>
        <a:cs typeface=""/>
      </a:majorFont>
      <a:minorFont>
        <a:latin typeface="Pfizer Diatype Office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A2626A2AA07B44497571DE96EE61C14" ma:contentTypeVersion="8" ma:contentTypeDescription="Create a new document." ma:contentTypeScope="" ma:versionID="27a968af80de6ca48520970d1d72d95e">
  <xsd:schema xmlns:xsd="http://www.w3.org/2001/XMLSchema" xmlns:xs="http://www.w3.org/2001/XMLSchema" xmlns:p="http://schemas.microsoft.com/office/2006/metadata/properties" xmlns:ns2="d5e872f4-8850-457a-a2cb-f8465d770ec5" targetNamespace="http://schemas.microsoft.com/office/2006/metadata/properties" ma:root="true" ma:fieldsID="9c1b183671ee56dbbf8bfea19d06bee6" ns2:_="">
    <xsd:import namespace="d5e872f4-8850-457a-a2cb-f8465d770ec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e872f4-8850-457a-a2cb-f8465d770e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A9DF4CB-0D24-4AC5-BF09-DC42EFCE8E4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6A564D5-1FA4-4CDE-B183-C4150BD0E1A6}">
  <ds:schemaRefs>
    <ds:schemaRef ds:uri="http://schemas.microsoft.com/office/2006/metadata/properties"/>
    <ds:schemaRef ds:uri="http://www.w3.org/2000/xmlns/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F34746E7-E364-4B7D-8C14-8245F06D63AE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d5e872f4-8850-457a-a2cb-f8465d770ec5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Internal_Confidential_Corporate_PowerPoint_Template</Template>
  <TotalTime>804</TotalTime>
  <Words>1274</Words>
  <Application>Microsoft Office PowerPoint</Application>
  <PresentationFormat>Widescreen</PresentationFormat>
  <Paragraphs>193</Paragraphs>
  <Slides>38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38</vt:i4>
      </vt:variant>
    </vt:vector>
  </HeadingPairs>
  <TitlesOfParts>
    <vt:vector size="48" baseType="lpstr">
      <vt:lpstr>Aptos</vt:lpstr>
      <vt:lpstr>Arial</vt:lpstr>
      <vt:lpstr>Consolas</vt:lpstr>
      <vt:lpstr>Pfizer Diatype</vt:lpstr>
      <vt:lpstr>Pfizer Diatype Office</vt:lpstr>
      <vt:lpstr>Pfizer Tomorrow</vt:lpstr>
      <vt:lpstr>COVER</vt:lpstr>
      <vt:lpstr>SECTION BREAKERS</vt:lpstr>
      <vt:lpstr>CHARTS AND OVERVIEWS</vt:lpstr>
      <vt:lpstr>BLANK SLIDES</vt:lpstr>
      <vt:lpstr>In an age of AI, we still need people.</vt:lpstr>
      <vt:lpstr>How do I view AI?</vt:lpstr>
      <vt:lpstr>AI is transforming how we work</vt:lpstr>
      <vt:lpstr>AI is transforming how we work</vt:lpstr>
      <vt:lpstr>AI is transforming how we work</vt:lpstr>
      <vt:lpstr>What are my experiences (so far) with using AI for data science?</vt:lpstr>
      <vt:lpstr>My personal experiences (1)</vt:lpstr>
      <vt:lpstr>My personal experiences (2)</vt:lpstr>
      <vt:lpstr>My personal experiences (2)</vt:lpstr>
      <vt:lpstr>My personal experiences (3)</vt:lpstr>
      <vt:lpstr>My personal experiences (3)</vt:lpstr>
      <vt:lpstr>My personal experiences (3)</vt:lpstr>
      <vt:lpstr>My personal experiences (4)</vt:lpstr>
      <vt:lpstr>My personal experiences (4)</vt:lpstr>
      <vt:lpstr>Questions and concerns I have…</vt:lpstr>
      <vt:lpstr>FAST to PoC</vt:lpstr>
      <vt:lpstr>FAST to PoC</vt:lpstr>
      <vt:lpstr>Functional but not maintainable (by humans)</vt:lpstr>
      <vt:lpstr>Vibe coding</vt:lpstr>
      <vt:lpstr>AI bots talking to AI bots</vt:lpstr>
      <vt:lpstr>Organisations devoid of developers</vt:lpstr>
      <vt:lpstr>Where people still matter…</vt:lpstr>
      <vt:lpstr>Where people still matter</vt:lpstr>
      <vt:lpstr>Where people still matter</vt:lpstr>
      <vt:lpstr>Where people still matter</vt:lpstr>
      <vt:lpstr>Where people still matter</vt:lpstr>
      <vt:lpstr>Where people still matter</vt:lpstr>
      <vt:lpstr>Where people still matter</vt:lpstr>
      <vt:lpstr>Where people still matter</vt:lpstr>
      <vt:lpstr>A call to action…</vt:lpstr>
      <vt:lpstr>What can I do?</vt:lpstr>
      <vt:lpstr>What can I do?</vt:lpstr>
      <vt:lpstr>What can I do?</vt:lpstr>
      <vt:lpstr>What can I do?</vt:lpstr>
      <vt:lpstr>AI good practices</vt:lpstr>
      <vt:lpstr>Personal development in the age of AI</vt:lpstr>
      <vt:lpstr>Where people still matter</vt:lpstr>
      <vt:lpstr>THANK YOU!  And thanks to Datacove for the invitation…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 an age of AI, we still need people.</dc:title>
  <dc:creator>Smith, Matt</dc:creator>
  <cp:lastModifiedBy>Smith, Mike</cp:lastModifiedBy>
  <cp:revision>2</cp:revision>
  <dcterms:created xsi:type="dcterms:W3CDTF">2026-08-12T13:47:48Z</dcterms:created>
  <dcterms:modified xsi:type="dcterms:W3CDTF">2026-10-09T08:17:54Z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0x0101004A2626A2AA07B44497571DE96EE61C14</vt:lpwstr>
  </property>
  <property fmtid="{D5CDD505-2E9C-101B-9397-08002B2CF9AE}" pid="3" name="MSIP_Label_fa6f01b5-c24b-4fa8-8e8f-cee31f47fe31_Enabled">
    <vt:lpwstr>true</vt:lpwstr>
  </property>
  <property fmtid="{D5CDD505-2E9C-101B-9397-08002B2CF9AE}" pid="4" name="MSIP_Label_fa6f01b5-c24b-4fa8-8e8f-cee31f47fe31_SetDate">
    <vt:lpwstr>2026-08-27T11:38:49Z</vt:lpwstr>
  </property>
  <property fmtid="{D5CDD505-2E9C-101B-9397-08002B2CF9AE}" pid="5" name="MSIP_Label_fa6f01b5-c24b-4fa8-8e8f-cee31f47fe31_Method">
    <vt:lpwstr>Privileged</vt:lpwstr>
  </property>
  <property fmtid="{D5CDD505-2E9C-101B-9397-08002B2CF9AE}" pid="6" name="MSIP_Label_fa6f01b5-c24b-4fa8-8e8f-cee31f47fe31_Name">
    <vt:lpwstr>fa6f01b5-c24b-4fa8-8e8f-cee31f47fe31</vt:lpwstr>
  </property>
  <property fmtid="{D5CDD505-2E9C-101B-9397-08002B2CF9AE}" pid="7" name="MSIP_Label_fa6f01b5-c24b-4fa8-8e8f-cee31f47fe31_SiteId">
    <vt:lpwstr>7a916015-20ae-4ad1-9170-eefd915e9272</vt:lpwstr>
  </property>
  <property fmtid="{D5CDD505-2E9C-101B-9397-08002B2CF9AE}" pid="8" name="MSIP_Label_fa6f01b5-c24b-4fa8-8e8f-cee31f47fe31_ActionId">
    <vt:lpwstr>11d19119-3fe5-44f6-98c9-4f90c1289e40</vt:lpwstr>
  </property>
  <property fmtid="{D5CDD505-2E9C-101B-9397-08002B2CF9AE}" pid="9" name="MSIP_Label_fa6f01b5-c24b-4fa8-8e8f-cee31f47fe31_ContentBits">
    <vt:lpwstr>0</vt:lpwstr>
  </property>
  <property fmtid="{D5CDD505-2E9C-101B-9397-08002B2CF9AE}" pid="10" name="MSIP_Label_fa6f01b5-c24b-4fa8-8e8f-cee31f47fe31_Tag">
    <vt:lpwstr>10, 0, 1, 1</vt:lpwstr>
  </property>
</Properties>
</file>